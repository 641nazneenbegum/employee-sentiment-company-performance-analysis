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86" r:id="rId11"/>
    <p:sldId id="287" r:id="rId12"/>
    <p:sldId id="288" r:id="rId13"/>
    <p:sldId id="285" r:id="rId14"/>
    <p:sldId id="290" r:id="rId15"/>
    <p:sldId id="289" r:id="rId16"/>
    <p:sldId id="276" r:id="rId17"/>
    <p:sldId id="281" r:id="rId18"/>
    <p:sldId id="277" r:id="rId19"/>
    <p:sldId id="292" r:id="rId20"/>
    <p:sldId id="293" r:id="rId21"/>
    <p:sldId id="294" r:id="rId22"/>
    <p:sldId id="295" r:id="rId23"/>
    <p:sldId id="278" r:id="rId24"/>
    <p:sldId id="279" r:id="rId25"/>
    <p:sldId id="296" r:id="rId26"/>
    <p:sldId id="297" r:id="rId27"/>
    <p:sldId id="298" r:id="rId28"/>
    <p:sldId id="299" r:id="rId29"/>
    <p:sldId id="300" r:id="rId30"/>
    <p:sldId id="301" r:id="rId31"/>
    <p:sldId id="259" r:id="rId32"/>
  </p:sldIdLst>
  <p:sldSz cx="12192000" cy="6858000"/>
  <p:notesSz cx="6858000" cy="9144000"/>
  <p:embeddedFontLst>
    <p:embeddedFont>
      <p:font typeface="Gelasio" panose="020B0604020202020204" charset="0"/>
      <p:regular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Libre Baskerville" panose="02000000000000000000" pitchFamily="2" charset="0"/>
      <p:regular r:id="rId39"/>
      <p:bold r:id="rId40"/>
      <p: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23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5" y="77"/>
      </p:cViewPr>
      <p:guideLst>
        <p:guide orient="horz" pos="482"/>
        <p:guide pos="325"/>
        <p:guide pos="74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5C10CB0-20B1-6B69-E9A8-D97BF2D0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C40055B-CB54-097F-1968-E9051D467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EE795B2-1C84-B8ED-1EBA-B0BED2D1B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327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22E0A70-402B-4EF4-C82E-F4CBB943D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58C52A1-BD01-A655-189F-276D079CE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A461963-3B42-71AB-7399-F86F6411D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440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0270CEB-F4D3-EE3F-154C-A51BA475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6B27AEA-FD34-7A91-D7B8-77578FCE3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A7867AA-6565-BAF3-3B86-0506DB1CE7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10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3F2E09C-8C5D-C252-A6A9-1B3DC0F0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66926CC-D2FA-CA39-A7B1-0F7FFB960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FBCC128-B9CD-A9EF-BE34-BF088C997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420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59E5FB0-3FD6-8198-A545-471C94A7A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FC78C76-F54B-E43B-8C44-FFFD8CF49A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62DC1B7-5C45-82BB-2A9D-82AE146F1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36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27790AF-B47B-7DF5-2EF9-91B6F9576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815A8E2-6444-68E9-CF5E-98708608EC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7D040B3-AFC5-1CAE-FC0D-8422E8E4C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2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F5A8B7E-9B3C-AB65-BACD-B5708747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47477B0-86D4-3597-F7F5-D5F80070C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7522664-E716-2375-5F0B-21B2E7365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216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8195498-3185-6A02-E6E5-EFE6DDD45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42033C1-CA80-6ADE-25C8-F0B985B1B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94943AF-7671-A547-5A62-934E1493C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304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4DE7CCD-3C63-3C3C-5FB2-58EC0025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8999500-312A-5412-6BF3-D878FFC35C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712083D-CC78-5F8D-4B7E-09A074959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824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685D601-262B-6C93-CFB1-DF37194E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307091-B44B-28B4-837B-3F6B85E8E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26F07FF-E78D-23E2-D61B-ED40FCAE4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961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0C34B0F-ED8F-1DB0-D556-98FA73D5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2EC89D3-FA28-9AE0-C9EC-F87339695A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782E6F7-E4EC-B390-5C71-57D59EC91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280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D7325BE-24DC-645C-C74C-943E2AC2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9A0362E-4DA5-3519-6E65-DC8EBA3B0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39AAAF9-20B5-A53B-E6A0-452333B4D0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818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2421C80-8104-8F8C-5E10-F9B695CB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C369866-B539-34D8-0928-B03B74A3C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0D9589C-F957-2292-DEED-8F41636322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862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bitionbox.com/list-of-companies?campaign=homepage_companies_widg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05724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D8EA7DF-92F0-C360-B51C-7EF59B81576C}"/>
              </a:ext>
            </a:extLst>
          </p:cNvPr>
          <p:cNvSpPr/>
          <p:nvPr/>
        </p:nvSpPr>
        <p:spPr>
          <a:xfrm>
            <a:off x="94657" y="2731175"/>
            <a:ext cx="12001500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Employee Sentiment &amp; Company Performance Analysis</a:t>
            </a:r>
            <a:endParaRPr lang="en-US" sz="44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392F726-AA0E-DE10-E392-FC51A12538D0}"/>
              </a:ext>
            </a:extLst>
          </p:cNvPr>
          <p:cNvSpPr/>
          <p:nvPr/>
        </p:nvSpPr>
        <p:spPr>
          <a:xfrm>
            <a:off x="7937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Santhoshkumar | Aspiring Data Analyst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Snigdha kola | Aspiring Data Analyst</a:t>
            </a:r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Nazneen begum | Aspiring Data Analyst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8B4CD3E-2C83-8CC8-818B-476C45892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457199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32CFE90-F909-58BE-82D9-0C61A97CB062}"/>
              </a:ext>
            </a:extLst>
          </p:cNvPr>
          <p:cNvSpPr/>
          <p:nvPr/>
        </p:nvSpPr>
        <p:spPr>
          <a:xfrm>
            <a:off x="4917438" y="228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&amp; Motivation :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EE720BAA-474C-0B79-DED7-081944F85FB9}"/>
              </a:ext>
            </a:extLst>
          </p:cNvPr>
          <p:cNvSpPr/>
          <p:nvPr/>
        </p:nvSpPr>
        <p:spPr>
          <a:xfrm>
            <a:off x="4978399" y="1102687"/>
            <a:ext cx="7081522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9A2DBFC-3B6A-CBDA-B6BF-0BA14EE1DEEF}"/>
              </a:ext>
            </a:extLst>
          </p:cNvPr>
          <p:cNvSpPr/>
          <p:nvPr/>
        </p:nvSpPr>
        <p:spPr>
          <a:xfrm>
            <a:off x="4947918" y="1102687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8CC2DAA-A3B9-F830-0F89-FB173036A319}"/>
              </a:ext>
            </a:extLst>
          </p:cNvPr>
          <p:cNvSpPr/>
          <p:nvPr/>
        </p:nvSpPr>
        <p:spPr>
          <a:xfrm>
            <a:off x="5327132" y="13599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Lack of Clear Insights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6E54C3E-FDA3-1334-F95C-C43E5EFC6131}"/>
              </a:ext>
            </a:extLst>
          </p:cNvPr>
          <p:cNvSpPr/>
          <p:nvPr/>
        </p:nvSpPr>
        <p:spPr>
          <a:xfrm>
            <a:off x="5327132" y="1850400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Job seekers struggle with limited company insights.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28B07F6C-A5C7-B7B6-FB08-B371DECD5E7A}"/>
              </a:ext>
            </a:extLst>
          </p:cNvPr>
          <p:cNvSpPr/>
          <p:nvPr/>
        </p:nvSpPr>
        <p:spPr>
          <a:xfrm>
            <a:off x="4947918" y="2915296"/>
            <a:ext cx="7112003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18438EDB-D450-2A78-B4DC-575F06292CA6}"/>
              </a:ext>
            </a:extLst>
          </p:cNvPr>
          <p:cNvSpPr/>
          <p:nvPr/>
        </p:nvSpPr>
        <p:spPr>
          <a:xfrm>
            <a:off x="4917438" y="2915296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90C7C789-CE33-9500-A275-801296C497D6}"/>
              </a:ext>
            </a:extLst>
          </p:cNvPr>
          <p:cNvSpPr/>
          <p:nvPr/>
        </p:nvSpPr>
        <p:spPr>
          <a:xfrm>
            <a:off x="5296652" y="31725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Misleading Ratings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0120DB2C-551E-0167-9A28-B5F2C736B09B}"/>
              </a:ext>
            </a:extLst>
          </p:cNvPr>
          <p:cNvSpPr/>
          <p:nvPr/>
        </p:nvSpPr>
        <p:spPr>
          <a:xfrm>
            <a:off x="5296652" y="3663009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Simple ratings often don't tell the full story.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B3582065-4769-0EB3-9942-3336CDE1C112}"/>
              </a:ext>
            </a:extLst>
          </p:cNvPr>
          <p:cNvSpPr/>
          <p:nvPr/>
        </p:nvSpPr>
        <p:spPr>
          <a:xfrm>
            <a:off x="4947918" y="4510019"/>
            <a:ext cx="7112003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96C426D5-CD6C-86DA-1151-6FABB8A950B3}"/>
              </a:ext>
            </a:extLst>
          </p:cNvPr>
          <p:cNvSpPr/>
          <p:nvPr/>
        </p:nvSpPr>
        <p:spPr>
          <a:xfrm>
            <a:off x="4917438" y="4510019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7CF0B65C-A5AF-5C04-F12E-42136D4EBE56}"/>
              </a:ext>
            </a:extLst>
          </p:cNvPr>
          <p:cNvSpPr/>
          <p:nvPr/>
        </p:nvSpPr>
        <p:spPr>
          <a:xfrm>
            <a:off x="5296652" y="4767313"/>
            <a:ext cx="38270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Need for Data-Driven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0C64CD02-6D60-EF5B-532B-4D118A04D5AD}"/>
              </a:ext>
            </a:extLst>
          </p:cNvPr>
          <p:cNvSpPr/>
          <p:nvPr/>
        </p:nvSpPr>
        <p:spPr>
          <a:xfrm>
            <a:off x="5296652" y="5257732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 </a:t>
            </a:r>
            <a:r>
              <a:rPr lang="en-US" sz="18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deeper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, data-driven approach to employee sentiment is essential.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2B4BAFD-4C11-448C-4D4D-2879D219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F8BBA1BD-BA39-A085-3C68-35B8CDB7B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070AF0B6-AD4A-2A25-BD52-09B0E1A029B5}"/>
              </a:ext>
            </a:extLst>
          </p:cNvPr>
          <p:cNvSpPr/>
          <p:nvPr/>
        </p:nvSpPr>
        <p:spPr>
          <a:xfrm>
            <a:off x="4943475" y="23780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Objective :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1C372BCA-0D74-517D-1AEA-45A36D80E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470" y="1327944"/>
            <a:ext cx="1134070" cy="1360884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813E3E5F-CA11-4276-16F8-BA16C5303404}"/>
              </a:ext>
            </a:extLst>
          </p:cNvPr>
          <p:cNvSpPr/>
          <p:nvPr/>
        </p:nvSpPr>
        <p:spPr>
          <a:xfrm>
            <a:off x="6452354" y="1554758"/>
            <a:ext cx="36603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Analyze Employee Sentiment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284B35D4-71B9-1C7E-8D0C-F39A07412408}"/>
              </a:ext>
            </a:extLst>
          </p:cNvPr>
          <p:cNvSpPr/>
          <p:nvPr/>
        </p:nvSpPr>
        <p:spPr>
          <a:xfrm>
            <a:off x="6452354" y="204517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Dive deep into employee feelings and perceptions.</a:t>
            </a:r>
            <a:endParaRPr lang="en-US" sz="1800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EC740D16-727C-569F-D5D3-A774FA7E8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1470" y="2688828"/>
            <a:ext cx="1134070" cy="1360884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89A79D6B-B8BB-AD6C-3612-613EF7AB4949}"/>
              </a:ext>
            </a:extLst>
          </p:cNvPr>
          <p:cNvSpPr/>
          <p:nvPr/>
        </p:nvSpPr>
        <p:spPr>
          <a:xfrm>
            <a:off x="6452354" y="291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Identify Trends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1AFAD639-51B7-1215-0A79-9DA694D4065B}"/>
              </a:ext>
            </a:extLst>
          </p:cNvPr>
          <p:cNvSpPr/>
          <p:nvPr/>
        </p:nvSpPr>
        <p:spPr>
          <a:xfrm>
            <a:off x="6452354" y="340606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Uncover sector-wise and city-wise patterns.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6674C9E2-0870-6824-9CE2-A2CA94BA1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1470" y="4049713"/>
            <a:ext cx="1134070" cy="1360884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95A69D4D-76CC-17FE-3403-FC9B76660EAE}"/>
              </a:ext>
            </a:extLst>
          </p:cNvPr>
          <p:cNvSpPr/>
          <p:nvPr/>
        </p:nvSpPr>
        <p:spPr>
          <a:xfrm>
            <a:off x="6452354" y="427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Understand Patterns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0365D2EA-0255-C70B-1045-1EFAAEC45F93}"/>
              </a:ext>
            </a:extLst>
          </p:cNvPr>
          <p:cNvSpPr/>
          <p:nvPr/>
        </p:nvSpPr>
        <p:spPr>
          <a:xfrm>
            <a:off x="6452354" y="476694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Examine relationships between hiring and engagement.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93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2AC339E-31F3-C313-7DA2-0BB91866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FD6DC2AB-2FD5-21DF-2B22-2C0E37B1C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089" y="0"/>
            <a:ext cx="4051911" cy="60778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CF1D756F-E84C-ECDB-AE53-7C4043794FD4}"/>
              </a:ext>
            </a:extLst>
          </p:cNvPr>
          <p:cNvSpPr/>
          <p:nvPr/>
        </p:nvSpPr>
        <p:spPr>
          <a:xfrm>
            <a:off x="515938" y="225608"/>
            <a:ext cx="59419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Key Business Questions :</a:t>
            </a:r>
            <a:endParaRPr lang="en-US" sz="445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76A28280-7044-02B9-1842-DAE05845A81A}"/>
              </a:ext>
            </a:extLst>
          </p:cNvPr>
          <p:cNvSpPr/>
          <p:nvPr/>
        </p:nvSpPr>
        <p:spPr>
          <a:xfrm>
            <a:off x="515938" y="1626285"/>
            <a:ext cx="3664744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99BA4B3B-7490-4A33-9473-6E6B0219C519}"/>
              </a:ext>
            </a:extLst>
          </p:cNvPr>
          <p:cNvSpPr/>
          <p:nvPr/>
        </p:nvSpPr>
        <p:spPr>
          <a:xfrm>
            <a:off x="515938" y="1584230"/>
            <a:ext cx="3664744" cy="121920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96835E11-D3A5-3178-BCEC-1E98D4B2175C}"/>
              </a:ext>
            </a:extLst>
          </p:cNvPr>
          <p:cNvSpPr/>
          <p:nvPr/>
        </p:nvSpPr>
        <p:spPr>
          <a:xfrm>
            <a:off x="2008088" y="127454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AF8F8DD-15CA-4118-925A-418801FD6AAE}"/>
              </a:ext>
            </a:extLst>
          </p:cNvPr>
          <p:cNvSpPr/>
          <p:nvPr/>
        </p:nvSpPr>
        <p:spPr>
          <a:xfrm>
            <a:off x="2212162" y="144468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1</a:t>
            </a:r>
            <a:endParaRPr lang="en-US" sz="21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3153A0C-18C0-133C-4BF0-392DD46790A7}"/>
              </a:ext>
            </a:extLst>
          </p:cNvPr>
          <p:cNvSpPr/>
          <p:nvPr/>
        </p:nvSpPr>
        <p:spPr>
          <a:xfrm>
            <a:off x="773232" y="21816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Sector Ratings</a:t>
            </a:r>
            <a:endParaRPr lang="en-US" sz="2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91BEABC-727C-C733-6140-C6680022D722}"/>
              </a:ext>
            </a:extLst>
          </p:cNvPr>
          <p:cNvSpPr/>
          <p:nvPr/>
        </p:nvSpPr>
        <p:spPr>
          <a:xfrm>
            <a:off x="773232" y="2672104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Which sectors receive higher employee ratings?</a:t>
            </a:r>
            <a:endParaRPr lang="en-US" sz="175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065E03FA-D06D-2E83-69A4-F1D50E6932A3}"/>
              </a:ext>
            </a:extLst>
          </p:cNvPr>
          <p:cNvSpPr/>
          <p:nvPr/>
        </p:nvSpPr>
        <p:spPr>
          <a:xfrm>
            <a:off x="4407496" y="1614710"/>
            <a:ext cx="3664863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EEADD00A-CC4E-E807-6687-FE81E149B6F8}"/>
              </a:ext>
            </a:extLst>
          </p:cNvPr>
          <p:cNvSpPr/>
          <p:nvPr/>
        </p:nvSpPr>
        <p:spPr>
          <a:xfrm>
            <a:off x="4407496" y="1584230"/>
            <a:ext cx="3664863" cy="121920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496CF3BF-0E61-279B-1DF4-8D39C37A89FA}"/>
              </a:ext>
            </a:extLst>
          </p:cNvPr>
          <p:cNvSpPr/>
          <p:nvPr/>
        </p:nvSpPr>
        <p:spPr>
          <a:xfrm>
            <a:off x="5899646" y="127454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84EC5BC-B8B0-76E8-4338-03EFA44CD421}"/>
              </a:ext>
            </a:extLst>
          </p:cNvPr>
          <p:cNvSpPr/>
          <p:nvPr/>
        </p:nvSpPr>
        <p:spPr>
          <a:xfrm>
            <a:off x="6103719" y="144468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</a:t>
            </a:r>
            <a:endParaRPr lang="en-US" sz="21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C274AFDE-68C8-B674-8A80-936CB2343D6E}"/>
              </a:ext>
            </a:extLst>
          </p:cNvPr>
          <p:cNvSpPr/>
          <p:nvPr/>
        </p:nvSpPr>
        <p:spPr>
          <a:xfrm>
            <a:off x="4664790" y="21816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Reviews &amp; Hiring</a:t>
            </a:r>
            <a:endParaRPr lang="en-US" sz="22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623B2325-C958-70C6-33D4-5379DB0E0C13}"/>
              </a:ext>
            </a:extLst>
          </p:cNvPr>
          <p:cNvSpPr/>
          <p:nvPr/>
        </p:nvSpPr>
        <p:spPr>
          <a:xfrm>
            <a:off x="4664790" y="2672104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 employee reviews impact hiring decisions?</a:t>
            </a:r>
            <a:endParaRPr lang="en-US" sz="175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416D406B-90A7-0DA2-C8F8-F4844E6D3420}"/>
              </a:ext>
            </a:extLst>
          </p:cNvPr>
          <p:cNvSpPr/>
          <p:nvPr/>
        </p:nvSpPr>
        <p:spPr>
          <a:xfrm>
            <a:off x="515938" y="4222179"/>
            <a:ext cx="7556421" cy="1677591"/>
          </a:xfrm>
          <a:prstGeom prst="roundRect">
            <a:avLst>
              <a:gd name="adj" fmla="val 8721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FD110CA8-0E3C-BBD8-66E4-F71BE688E195}"/>
              </a:ext>
            </a:extLst>
          </p:cNvPr>
          <p:cNvSpPr/>
          <p:nvPr/>
        </p:nvSpPr>
        <p:spPr>
          <a:xfrm>
            <a:off x="515938" y="4191699"/>
            <a:ext cx="7556421" cy="121920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CD09A03A-5211-0A62-931F-FC8C379B064F}"/>
              </a:ext>
            </a:extLst>
          </p:cNvPr>
          <p:cNvSpPr/>
          <p:nvPr/>
        </p:nvSpPr>
        <p:spPr>
          <a:xfrm>
            <a:off x="3953927" y="388201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C022E8E7-2D81-0972-5852-BB2B6DD228B1}"/>
              </a:ext>
            </a:extLst>
          </p:cNvPr>
          <p:cNvSpPr/>
          <p:nvPr/>
        </p:nvSpPr>
        <p:spPr>
          <a:xfrm>
            <a:off x="4158000" y="40521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3</a:t>
            </a:r>
            <a:endParaRPr lang="en-US" sz="21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8ADCDA24-AC7A-3DCA-8CDA-48001B1A2B5D}"/>
              </a:ext>
            </a:extLst>
          </p:cNvPr>
          <p:cNvSpPr/>
          <p:nvPr/>
        </p:nvSpPr>
        <p:spPr>
          <a:xfrm>
            <a:off x="773232" y="47891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Dominant Cities</a:t>
            </a:r>
            <a:endParaRPr lang="en-US" sz="22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6EFFAC17-55A8-38DA-F335-60F25594F410}"/>
              </a:ext>
            </a:extLst>
          </p:cNvPr>
          <p:cNvSpPr/>
          <p:nvPr/>
        </p:nvSpPr>
        <p:spPr>
          <a:xfrm>
            <a:off x="773232" y="5279573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Which cities offer the most job opportunities?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00887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2A84D73-7F96-AAB7-4564-AB8F95D2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EBD9DD49-2329-4E58-90C7-BEFC0E62865E}"/>
              </a:ext>
            </a:extLst>
          </p:cNvPr>
          <p:cNvSpPr/>
          <p:nvPr/>
        </p:nvSpPr>
        <p:spPr>
          <a:xfrm>
            <a:off x="515938" y="323076"/>
            <a:ext cx="4237196" cy="52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Data</a:t>
            </a: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Source :</a:t>
            </a:r>
            <a:endParaRPr lang="en-US" sz="4400" b="1" dirty="0">
              <a:solidFill>
                <a:schemeClr val="accent1"/>
              </a:solidFill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31512B1E-A157-B217-96DD-25A8D50F0C90}"/>
              </a:ext>
            </a:extLst>
          </p:cNvPr>
          <p:cNvSpPr/>
          <p:nvPr/>
        </p:nvSpPr>
        <p:spPr>
          <a:xfrm>
            <a:off x="593169" y="1308645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800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Platform – </a:t>
            </a:r>
            <a:r>
              <a:rPr lang="en-US" sz="18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AmbitionBox</a:t>
            </a:r>
          </a:p>
          <a:p>
            <a:pPr>
              <a:lnSpc>
                <a:spcPts val="2050"/>
              </a:lnSpc>
            </a:pPr>
            <a:endParaRPr lang="en-US" sz="1800" dirty="0">
              <a:solidFill>
                <a:srgbClr val="272525"/>
              </a:solidFill>
              <a:latin typeface="Times New Roman" panose="02020603050405020304" pitchFamily="18" charset="0"/>
              <a:ea typeface="Lato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50"/>
              </a:lnSpc>
            </a:pPr>
            <a:r>
              <a:rPr lang="en-US" sz="1800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Method - </a:t>
            </a:r>
            <a:r>
              <a:rPr lang="en-US" sz="18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Web-scraped company data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5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05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980B1F8-0512-4872-C57C-EFFC0398EA18}"/>
              </a:ext>
            </a:extLst>
          </p:cNvPr>
          <p:cNvSpPr/>
          <p:nvPr/>
        </p:nvSpPr>
        <p:spPr>
          <a:xfrm>
            <a:off x="593169" y="2293977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800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Scope - </a:t>
            </a:r>
            <a:r>
              <a:rPr lang="en-US" sz="18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Covers multiple sectors and cities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5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05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947FA6C-D7C0-9902-F413-5AE3F74DB724}"/>
              </a:ext>
            </a:extLst>
          </p:cNvPr>
          <p:cNvSpPr/>
          <p:nvPr/>
        </p:nvSpPr>
        <p:spPr>
          <a:xfrm>
            <a:off x="593169" y="3168729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A5144D4-7F2B-2E14-EDB2-2D37E313AF02}"/>
              </a:ext>
            </a:extLst>
          </p:cNvPr>
          <p:cNvSpPr txBox="1"/>
          <p:nvPr/>
        </p:nvSpPr>
        <p:spPr>
          <a:xfrm>
            <a:off x="515938" y="4691111"/>
            <a:ext cx="1030446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URL: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  <a:hlinkMouseOver r:id="" action="ppaction://hlinkshowjump?jump=nextslide"/>
              </a:rPr>
              <a:t>https://www.ambitionbox.com/list-of-companies?campaign=homepage_companies_wid</a:t>
            </a:r>
            <a:r>
              <a:rPr 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  <a:hlinkMouseOver r:id="" action="ppaction://hlinkshowjump?jump=nextslide"/>
              </a:rPr>
              <a:t>get</a:t>
            </a:r>
            <a:endParaRPr lang="en-IN" sz="24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EF9BB-AAB1-73B0-98B0-C02E91CC3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916" y="764063"/>
            <a:ext cx="7549483" cy="38266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0907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DCF62C7-0FA8-5E88-1988-CAADDC9C7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>
            <a:extLst>
              <a:ext uri="{FF2B5EF4-FFF2-40B4-BE49-F238E27FC236}">
                <a16:creationId xmlns:a16="http://schemas.microsoft.com/office/drawing/2014/main" id="{03D6D060-21E4-EC4E-CECF-4FA08BBC52BD}"/>
              </a:ext>
            </a:extLst>
          </p:cNvPr>
          <p:cNvSpPr/>
          <p:nvPr/>
        </p:nvSpPr>
        <p:spPr>
          <a:xfrm>
            <a:off x="515936" y="2363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Columns :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7F1FF7AF-E998-7BE5-DA13-BD084E67A0E9}"/>
              </a:ext>
            </a:extLst>
          </p:cNvPr>
          <p:cNvSpPr/>
          <p:nvPr/>
        </p:nvSpPr>
        <p:spPr>
          <a:xfrm>
            <a:off x="859105" y="1041168"/>
            <a:ext cx="7556421" cy="44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Company_Name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: Identifier for each company.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B5B30F13-00E1-E747-E5A0-270C16F06763}"/>
              </a:ext>
            </a:extLst>
          </p:cNvPr>
          <p:cNvSpPr/>
          <p:nvPr/>
        </p:nvSpPr>
        <p:spPr>
          <a:xfrm>
            <a:off x="859102" y="1632922"/>
            <a:ext cx="7556421" cy="64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Ratings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: Employee satisfaction scores.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F223C629-DC85-0257-60CC-C6C3E5B6DD11}"/>
              </a:ext>
            </a:extLst>
          </p:cNvPr>
          <p:cNvSpPr/>
          <p:nvPr/>
        </p:nvSpPr>
        <p:spPr>
          <a:xfrm>
            <a:off x="859102" y="2299785"/>
            <a:ext cx="7556421" cy="64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Reviews_Count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: Number of employee reviews.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CC113F17-0A95-F25E-02E7-78E8CF40DB6D}"/>
              </a:ext>
            </a:extLst>
          </p:cNvPr>
          <p:cNvSpPr/>
          <p:nvPr/>
        </p:nvSpPr>
        <p:spPr>
          <a:xfrm>
            <a:off x="859103" y="2947785"/>
            <a:ext cx="7556421" cy="64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Jobs_Count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: Number of open job positions.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86919807-1908-F72F-2828-0086A5344F12}"/>
              </a:ext>
            </a:extLst>
          </p:cNvPr>
          <p:cNvSpPr/>
          <p:nvPr/>
        </p:nvSpPr>
        <p:spPr>
          <a:xfrm>
            <a:off x="859104" y="3595785"/>
            <a:ext cx="7556421" cy="64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Salary_Count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Number of reported salaries.</a:t>
            </a:r>
            <a:endParaRPr lang="en-US" sz="175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E9F275E7-0862-0771-BCF5-6D825C900F67}"/>
              </a:ext>
            </a:extLst>
          </p:cNvPr>
          <p:cNvSpPr/>
          <p:nvPr/>
        </p:nvSpPr>
        <p:spPr>
          <a:xfrm>
            <a:off x="6186527" y="1510044"/>
            <a:ext cx="7556421" cy="64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Company_Sector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: Industry sector of the company.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DFC4BF96-6339-E2E7-4108-834A02132514}"/>
              </a:ext>
            </a:extLst>
          </p:cNvPr>
          <p:cNvSpPr/>
          <p:nvPr/>
        </p:nvSpPr>
        <p:spPr>
          <a:xfrm>
            <a:off x="6186527" y="1036488"/>
            <a:ext cx="7556421" cy="104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Primary_City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: Main operational city.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49314-711E-97E7-8720-434D5E2E3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8" y="4910648"/>
            <a:ext cx="11069595" cy="10574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0621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697F473-1A82-612C-C50F-81EC93AE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A599CBE7-A4C2-B55A-D231-B53D8F66CE29}"/>
              </a:ext>
            </a:extLst>
          </p:cNvPr>
          <p:cNvSpPr/>
          <p:nvPr/>
        </p:nvSpPr>
        <p:spPr>
          <a:xfrm>
            <a:off x="515938" y="2356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Data Quality Issues :</a:t>
            </a:r>
            <a:endParaRPr lang="en-US" sz="445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A7CF4C6C-B7DF-3036-09BC-477C1C1B993C}"/>
              </a:ext>
            </a:extLst>
          </p:cNvPr>
          <p:cNvSpPr/>
          <p:nvPr/>
        </p:nvSpPr>
        <p:spPr>
          <a:xfrm>
            <a:off x="625535" y="1236106"/>
            <a:ext cx="3664744" cy="2195836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A120DAFF-B763-336C-8D06-89AF4781E5A6}"/>
              </a:ext>
            </a:extLst>
          </p:cNvPr>
          <p:cNvSpPr/>
          <p:nvPr/>
        </p:nvSpPr>
        <p:spPr>
          <a:xfrm>
            <a:off x="750372" y="14675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F4C1558-52A1-0139-6024-D67B9FCF7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38" y="1654645"/>
            <a:ext cx="306110" cy="30611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585D683A-3343-2516-09F0-31549A32CA32}"/>
              </a:ext>
            </a:extLst>
          </p:cNvPr>
          <p:cNvSpPr/>
          <p:nvPr/>
        </p:nvSpPr>
        <p:spPr>
          <a:xfrm>
            <a:off x="1470462" y="16305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Non-Numeric Values</a:t>
            </a:r>
            <a:endParaRPr lang="en-US" sz="22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7144466C-61F5-A844-668D-99308507CE23}"/>
              </a:ext>
            </a:extLst>
          </p:cNvPr>
          <p:cNvSpPr/>
          <p:nvPr/>
        </p:nvSpPr>
        <p:spPr>
          <a:xfrm>
            <a:off x="656234" y="2436741"/>
            <a:ext cx="35458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Presence of 'k', 'L', and '--' in numerical fields.</a:t>
            </a:r>
            <a:endParaRPr lang="en-US" sz="175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12B84BB9-EEA1-D624-D241-96F1681A19EF}"/>
              </a:ext>
            </a:extLst>
          </p:cNvPr>
          <p:cNvSpPr/>
          <p:nvPr/>
        </p:nvSpPr>
        <p:spPr>
          <a:xfrm>
            <a:off x="4407496" y="1233164"/>
            <a:ext cx="3664863" cy="2229445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F61FD055-9E1D-D70E-EB2D-FA11A5EE4F79}"/>
              </a:ext>
            </a:extLst>
          </p:cNvPr>
          <p:cNvSpPr/>
          <p:nvPr/>
        </p:nvSpPr>
        <p:spPr>
          <a:xfrm>
            <a:off x="4641930" y="14675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D14C978-7A5C-4FEB-8DFB-C07EAD57B8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9096" y="1654645"/>
            <a:ext cx="306110" cy="306110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1C1BE8FA-FEFC-75E1-F33A-27AAFB5C809C}"/>
              </a:ext>
            </a:extLst>
          </p:cNvPr>
          <p:cNvSpPr/>
          <p:nvPr/>
        </p:nvSpPr>
        <p:spPr>
          <a:xfrm>
            <a:off x="5471557" y="16064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072A08E6-AF23-6B5D-E9C3-72E2CAAAB518}"/>
              </a:ext>
            </a:extLst>
          </p:cNvPr>
          <p:cNvSpPr/>
          <p:nvPr/>
        </p:nvSpPr>
        <p:spPr>
          <a:xfrm>
            <a:off x="4508263" y="2409279"/>
            <a:ext cx="37512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Gaps in city and sector information.</a:t>
            </a:r>
            <a:endParaRPr lang="en-US" sz="175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A1B0079-EB0D-809A-691F-EC736F213B84}"/>
              </a:ext>
            </a:extLst>
          </p:cNvPr>
          <p:cNvSpPr/>
          <p:nvPr/>
        </p:nvSpPr>
        <p:spPr>
          <a:xfrm>
            <a:off x="8221544" y="1233164"/>
            <a:ext cx="3751262" cy="2229445"/>
          </a:xfrm>
          <a:prstGeom prst="roundRect">
            <a:avLst>
              <a:gd name="adj" fmla="val 427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342E648C-D75C-E2E1-0D1E-5B184F6735CA}"/>
              </a:ext>
            </a:extLst>
          </p:cNvPr>
          <p:cNvSpPr/>
          <p:nvPr/>
        </p:nvSpPr>
        <p:spPr>
          <a:xfrm>
            <a:off x="8455977" y="14675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0F7D7D88-D343-2051-BA18-A74EF11369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43143" y="1654645"/>
            <a:ext cx="306110" cy="306110"/>
          </a:xfrm>
          <a:prstGeom prst="rect">
            <a:avLst/>
          </a:prstGeom>
        </p:spPr>
      </p:pic>
      <p:sp>
        <p:nvSpPr>
          <p:cNvPr id="25" name="Text 11">
            <a:extLst>
              <a:ext uri="{FF2B5EF4-FFF2-40B4-BE49-F238E27FC236}">
                <a16:creationId xmlns:a16="http://schemas.microsoft.com/office/drawing/2014/main" id="{2913971F-A501-F4E1-A196-700AFD10FB12}"/>
              </a:ext>
            </a:extLst>
          </p:cNvPr>
          <p:cNvSpPr/>
          <p:nvPr/>
        </p:nvSpPr>
        <p:spPr>
          <a:xfrm>
            <a:off x="9215282" y="16608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Inconsistent Formats</a:t>
            </a:r>
            <a:endParaRPr lang="en-US" sz="22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1CB9E8CF-C7B7-AF62-8C2B-31D69E9CBDB8}"/>
              </a:ext>
            </a:extLst>
          </p:cNvPr>
          <p:cNvSpPr/>
          <p:nvPr/>
        </p:nvSpPr>
        <p:spPr>
          <a:xfrm>
            <a:off x="8429030" y="2409279"/>
            <a:ext cx="33439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Variations in data representation.</a:t>
            </a:r>
            <a:endParaRPr lang="en-US" sz="17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E5724A-9241-7D82-15E8-120B1EB31D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126" y="3605314"/>
            <a:ext cx="4207562" cy="854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9B9343-174E-2687-EF21-B4E3AA284B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5116" y="3585101"/>
            <a:ext cx="2649621" cy="25942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AA5F67-8967-3D41-2D29-27A29541F2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6198" y="3575990"/>
            <a:ext cx="2649621" cy="25942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B6916E7-93A2-6960-10FA-0E913FE85EA7}"/>
              </a:ext>
            </a:extLst>
          </p:cNvPr>
          <p:cNvSpPr/>
          <p:nvPr/>
        </p:nvSpPr>
        <p:spPr>
          <a:xfrm>
            <a:off x="5997677" y="5466099"/>
            <a:ext cx="990370" cy="1868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7CF543-EB1D-680D-FEDD-2FC548BE174D}"/>
              </a:ext>
            </a:extLst>
          </p:cNvPr>
          <p:cNvSpPr/>
          <p:nvPr/>
        </p:nvSpPr>
        <p:spPr>
          <a:xfrm>
            <a:off x="10814298" y="4286865"/>
            <a:ext cx="721196" cy="1691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AAFF28-1CBC-4DC7-DE81-C39925EF4EE6}"/>
              </a:ext>
            </a:extLst>
          </p:cNvPr>
          <p:cNvSpPr/>
          <p:nvPr/>
        </p:nvSpPr>
        <p:spPr>
          <a:xfrm>
            <a:off x="810011" y="4011069"/>
            <a:ext cx="3495685" cy="2757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335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BE85A78-6099-28BE-06E4-4C0F9FF6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4F6C9AF8-40EC-F3C8-B674-69184CBEA9CC}"/>
              </a:ext>
            </a:extLst>
          </p:cNvPr>
          <p:cNvSpPr/>
          <p:nvPr/>
        </p:nvSpPr>
        <p:spPr>
          <a:xfrm>
            <a:off x="515938" y="2118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Data Cleaning Steps :</a:t>
            </a:r>
            <a:endParaRPr lang="en-US" sz="445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77574021-9DC8-491C-6ABD-B2A377D5B14B}"/>
              </a:ext>
            </a:extLst>
          </p:cNvPr>
          <p:cNvSpPr/>
          <p:nvPr/>
        </p:nvSpPr>
        <p:spPr>
          <a:xfrm>
            <a:off x="742752" y="1252605"/>
            <a:ext cx="226814" cy="1020604"/>
          </a:xfrm>
          <a:prstGeom prst="roundRect">
            <a:avLst>
              <a:gd name="adj" fmla="val 4200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5315683E-A407-01BE-29E7-87BF6751A43E}"/>
              </a:ext>
            </a:extLst>
          </p:cNvPr>
          <p:cNvSpPr/>
          <p:nvPr/>
        </p:nvSpPr>
        <p:spPr>
          <a:xfrm>
            <a:off x="515938" y="1103777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7F1E332B-E39F-8C53-7C11-0314E5C7C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078" y="1273917"/>
            <a:ext cx="340162" cy="340162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DDF9FFED-93FE-6347-584F-94F8E206F0F1}"/>
              </a:ext>
            </a:extLst>
          </p:cNvPr>
          <p:cNvSpPr/>
          <p:nvPr/>
        </p:nvSpPr>
        <p:spPr>
          <a:xfrm>
            <a:off x="1423194" y="1139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Convert Values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4611D4B-29A2-364D-F7CE-BB920B477DD9}"/>
              </a:ext>
            </a:extLst>
          </p:cNvPr>
          <p:cNvSpPr/>
          <p:nvPr/>
        </p:nvSpPr>
        <p:spPr>
          <a:xfrm>
            <a:off x="1423194" y="1629676"/>
            <a:ext cx="66491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Transformed text values (e.g., 'k', 'L') to numeric.</a:t>
            </a:r>
            <a:endParaRPr lang="en-US" sz="175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60631854-FB78-6DB4-D9AA-6503B5DF756B}"/>
              </a:ext>
            </a:extLst>
          </p:cNvPr>
          <p:cNvSpPr/>
          <p:nvPr/>
        </p:nvSpPr>
        <p:spPr>
          <a:xfrm>
            <a:off x="733981" y="2880070"/>
            <a:ext cx="226814" cy="1020604"/>
          </a:xfrm>
          <a:prstGeom prst="roundRect">
            <a:avLst>
              <a:gd name="adj" fmla="val 4200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BA90F4AE-CBC1-B44D-DB16-E7A67CE2C348}"/>
              </a:ext>
            </a:extLst>
          </p:cNvPr>
          <p:cNvSpPr/>
          <p:nvPr/>
        </p:nvSpPr>
        <p:spPr>
          <a:xfrm>
            <a:off x="507167" y="2731242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69F2D5E4-C9B2-9F99-5679-36DF10B266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308" y="2901382"/>
            <a:ext cx="340162" cy="340162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0D34C265-9A4F-7FBD-C317-AD721245C26D}"/>
              </a:ext>
            </a:extLst>
          </p:cNvPr>
          <p:cNvSpPr/>
          <p:nvPr/>
        </p:nvSpPr>
        <p:spPr>
          <a:xfrm>
            <a:off x="1414424" y="27667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Handle Missing Data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F18C5C43-252E-3D36-2D8B-7B47F44A45E2}"/>
              </a:ext>
            </a:extLst>
          </p:cNvPr>
          <p:cNvSpPr/>
          <p:nvPr/>
        </p:nvSpPr>
        <p:spPr>
          <a:xfrm>
            <a:off x="1414424" y="3257141"/>
            <a:ext cx="6309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Logically addressed and imputed missing city and sector values.</a:t>
            </a:r>
            <a:endParaRPr lang="en-US" sz="175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B008BDB9-4051-71F6-5693-D8AB932DDFEE}"/>
              </a:ext>
            </a:extLst>
          </p:cNvPr>
          <p:cNvSpPr/>
          <p:nvPr/>
        </p:nvSpPr>
        <p:spPr>
          <a:xfrm>
            <a:off x="742752" y="4472054"/>
            <a:ext cx="226814" cy="1020604"/>
          </a:xfrm>
          <a:prstGeom prst="roundRect">
            <a:avLst>
              <a:gd name="adj" fmla="val 4200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8549AF4B-86A8-C3B2-479B-F782342D5878}"/>
              </a:ext>
            </a:extLst>
          </p:cNvPr>
          <p:cNvSpPr/>
          <p:nvPr/>
        </p:nvSpPr>
        <p:spPr>
          <a:xfrm>
            <a:off x="515938" y="4323226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04917C05-8ACA-7086-99F6-8D6F07A5B2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078" y="4493366"/>
            <a:ext cx="340162" cy="340162"/>
          </a:xfrm>
          <a:prstGeom prst="rect">
            <a:avLst/>
          </a:prstGeom>
        </p:spPr>
      </p:pic>
      <p:sp>
        <p:nvSpPr>
          <p:cNvPr id="24" name="Text 11">
            <a:extLst>
              <a:ext uri="{FF2B5EF4-FFF2-40B4-BE49-F238E27FC236}">
                <a16:creationId xmlns:a16="http://schemas.microsoft.com/office/drawing/2014/main" id="{6E417BE3-FC09-B0B4-B942-3C66F2A99DB5}"/>
              </a:ext>
            </a:extLst>
          </p:cNvPr>
          <p:cNvSpPr/>
          <p:nvPr/>
        </p:nvSpPr>
        <p:spPr>
          <a:xfrm>
            <a:off x="1423194" y="43587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Standardize Names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77EFFF43-B14A-83F6-A4C2-E73E0B7A5203}"/>
              </a:ext>
            </a:extLst>
          </p:cNvPr>
          <p:cNvSpPr/>
          <p:nvPr/>
        </p:nvSpPr>
        <p:spPr>
          <a:xfrm>
            <a:off x="1423194" y="4849125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Ensured consistent naming for cities and sectors.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FDDAA-E398-8738-C521-EAD054A7E7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9864" y="445238"/>
            <a:ext cx="4334674" cy="19975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B8D92E-6FF3-EF59-7A15-1374C2982E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9864" y="2602694"/>
            <a:ext cx="4334674" cy="6502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7E4E33-D685-B8F2-D89A-A3E57AF2CE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991" y="3805225"/>
            <a:ext cx="3501237" cy="18864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6C18E0A-9CDE-F302-2A4D-187709F77975}"/>
              </a:ext>
            </a:extLst>
          </p:cNvPr>
          <p:cNvSpPr/>
          <p:nvPr/>
        </p:nvSpPr>
        <p:spPr>
          <a:xfrm>
            <a:off x="8670482" y="3773418"/>
            <a:ext cx="1091381" cy="188641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645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C31928E-6756-A3B1-F99B-19E087AA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F05CEA13-561C-F16D-1255-37579ED8CDAB}"/>
              </a:ext>
            </a:extLst>
          </p:cNvPr>
          <p:cNvSpPr/>
          <p:nvPr/>
        </p:nvSpPr>
        <p:spPr>
          <a:xfrm>
            <a:off x="515938" y="343079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Clean Data Ready :</a:t>
            </a:r>
            <a:endParaRPr lang="en-US" sz="4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FA12EFD-5A61-D961-0478-EB3584228115}"/>
              </a:ext>
            </a:extLst>
          </p:cNvPr>
          <p:cNvSpPr/>
          <p:nvPr/>
        </p:nvSpPr>
        <p:spPr>
          <a:xfrm>
            <a:off x="714892" y="1898451"/>
            <a:ext cx="1813322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100%</a:t>
            </a:r>
            <a:endParaRPr lang="en-US" sz="2900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F6997AC1-4884-4FB5-C9D1-B9274AFC7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977027"/>
            <a:ext cx="2211467" cy="2211467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4E1E9AA6-D934-14AC-8278-5195199C4E8E}"/>
              </a:ext>
            </a:extLst>
          </p:cNvPr>
          <p:cNvSpPr/>
          <p:nvPr/>
        </p:nvSpPr>
        <p:spPr>
          <a:xfrm>
            <a:off x="700128" y="332101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Correct Data Types</a:t>
            </a:r>
            <a:endParaRPr lang="en-US" sz="1450" b="1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FEFA02EB-20EA-D9F5-B98C-93786C962C06}"/>
              </a:ext>
            </a:extLst>
          </p:cNvPr>
          <p:cNvSpPr/>
          <p:nvPr/>
        </p:nvSpPr>
        <p:spPr>
          <a:xfrm>
            <a:off x="-37566" y="3598340"/>
            <a:ext cx="371832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 data fields are now in their appropriate formats.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D62FDB4-4F7D-3377-D9F6-5745CA4B3DD8}"/>
              </a:ext>
            </a:extLst>
          </p:cNvPr>
          <p:cNvSpPr/>
          <p:nvPr/>
        </p:nvSpPr>
        <p:spPr>
          <a:xfrm>
            <a:off x="4552990" y="1898451"/>
            <a:ext cx="1813322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0%</a:t>
            </a:r>
            <a:endParaRPr lang="en-US" sz="29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1214F529-DA19-D9C7-F023-8196B6799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4037" y="977027"/>
            <a:ext cx="2211467" cy="2211467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65318F54-9679-F08A-0386-57F3BA95AE8B}"/>
              </a:ext>
            </a:extLst>
          </p:cNvPr>
          <p:cNvSpPr/>
          <p:nvPr/>
        </p:nvSpPr>
        <p:spPr>
          <a:xfrm>
            <a:off x="4526439" y="3321010"/>
            <a:ext cx="186666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Critical Missing Values</a:t>
            </a:r>
            <a:endParaRPr lang="en-US" sz="1450" b="1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42A6F97-97D4-CA19-C5EA-FA42AEFCB8F0}"/>
              </a:ext>
            </a:extLst>
          </p:cNvPr>
          <p:cNvSpPr/>
          <p:nvPr/>
        </p:nvSpPr>
        <p:spPr>
          <a:xfrm>
            <a:off x="3600609" y="3608784"/>
            <a:ext cx="371832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significant missing data remaining.</a:t>
            </a:r>
            <a:endParaRPr lang="en-US" sz="12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03F6BDBA-CCF9-26F9-8FDF-A3B0946457CF}"/>
              </a:ext>
            </a:extLst>
          </p:cNvPr>
          <p:cNvSpPr/>
          <p:nvPr/>
        </p:nvSpPr>
        <p:spPr>
          <a:xfrm>
            <a:off x="9147639" y="3026710"/>
            <a:ext cx="1813322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Ready</a:t>
            </a:r>
            <a:endParaRPr lang="en-US" sz="29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D08D74C4-7711-DEEA-D158-C20351FC5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8686" y="1898451"/>
            <a:ext cx="2211467" cy="2211467"/>
          </a:xfrm>
          <a:prstGeom prst="rect">
            <a:avLst/>
          </a:prstGeom>
        </p:spPr>
      </p:pic>
      <p:sp>
        <p:nvSpPr>
          <p:cNvPr id="24" name="Text 8">
            <a:extLst>
              <a:ext uri="{FF2B5EF4-FFF2-40B4-BE49-F238E27FC236}">
                <a16:creationId xmlns:a16="http://schemas.microsoft.com/office/drawing/2014/main" id="{E3207AC3-6BA2-238D-80C0-EEAFB1793148}"/>
              </a:ext>
            </a:extLst>
          </p:cNvPr>
          <p:cNvSpPr/>
          <p:nvPr/>
        </p:nvSpPr>
        <p:spPr>
          <a:xfrm>
            <a:off x="9132875" y="424243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Ready for Analysis</a:t>
            </a:r>
            <a:endParaRPr lang="en-US" sz="1450" b="1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CF580296-CE74-86C7-2B58-EB775B61A66D}"/>
              </a:ext>
            </a:extLst>
          </p:cNvPr>
          <p:cNvSpPr/>
          <p:nvPr/>
        </p:nvSpPr>
        <p:spPr>
          <a:xfrm>
            <a:off x="8195258" y="4530209"/>
            <a:ext cx="371832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Dataset is prepared for EDA and visualization.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34421A-4249-913F-4A35-4004F0E40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20" y="3971685"/>
            <a:ext cx="7341581" cy="5719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41EF20-6D48-16A5-D56D-D5EFB2F3E2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420" y="4581161"/>
            <a:ext cx="7341581" cy="21545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184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91C9FF-0264-4035-BBB2-967BC1691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5" y="1852583"/>
            <a:ext cx="4923130" cy="34476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757382" y="304801"/>
            <a:ext cx="82111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Univariate Analysis  graphs: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7779" y="1265382"/>
            <a:ext cx="343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Plot: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15710" y="1450048"/>
            <a:ext cx="6096000" cy="44627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(from the histogram):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companies have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clustered between mid-range values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at the extremes.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right-skewed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fewer companies having very high ratings.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and very high ratings are less frequent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ratings are concentrated around the average range.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Tekwissen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Solutions,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..having Highest ratings(4.9).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Stellar</a:t>
            </a:r>
            <a:r>
              <a:rPr lang="en-IN" dirty="0"/>
              <a:t> </a:t>
            </a:r>
            <a:r>
              <a:rPr lang="en-IN" b="1" dirty="0"/>
              <a:t>Migration</a:t>
            </a:r>
            <a:r>
              <a:rPr lang="en-IN" dirty="0"/>
              <a:t> having the lowest ratings(1.3).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000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1A1CEA-1F91-0A99-77B3-A5B349E48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89" y="1300934"/>
            <a:ext cx="5581060" cy="3908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73289" y="535709"/>
            <a:ext cx="348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of Review Count: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539346" y="678890"/>
            <a:ext cx="4562764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 (from the box plot):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 counts is highly right-skewed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companies have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to moderate number of reviews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clustered near the lower 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Several extreme outliers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present, representing companies with a very large number of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TCS having Highest review count(11000)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Nippon Life </a:t>
            </a:r>
            <a:r>
              <a:rPr lang="fr-F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r>
              <a:rPr lang="fr-F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</a:t>
            </a:r>
            <a:r>
              <a:rPr lang="fr-F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 and 26 </a:t>
            </a:r>
            <a:r>
              <a:rPr lang="fr-F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fr-F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companies are </a:t>
            </a:r>
            <a:r>
              <a:rPr lang="fr-F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fr-F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  <a:r>
              <a:rPr lang="fr-F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fr-F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fr-F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1000.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764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E806B9-160E-0E98-499D-B27119C4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06" y="1605735"/>
            <a:ext cx="4322877" cy="36220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81892" y="840509"/>
            <a:ext cx="479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Violin Plot of Salary Count:</a:t>
            </a:r>
            <a:endParaRPr lang="en-IN" sz="1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855853" y="463785"/>
            <a:ext cx="602211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 (Violin Plot of Salary Count):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count is highly right-skewed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companies have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number of salary entries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concentrated near the lower 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companies have very high salary counts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creating a long right tail.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data is dominated by a small number of large companies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while most have limited salary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25% of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companies like </a:t>
            </a:r>
            <a:r>
              <a:rPr lang="en-IN" sz="1800" dirty="0"/>
              <a:t>Stellar Migration etc..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number of salary entries.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75% of companies like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Imperial Auto Industries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etc..have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high salary counts.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453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5CD7194-C74C-77D8-04B2-D06C7C1C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31FC59-880A-AF8F-3BD3-38EB6570E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7" y="1730918"/>
            <a:ext cx="4327932" cy="32751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455170" y="1012203"/>
            <a:ext cx="2877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KDE Plot of Job Openings: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849091" y="837589"/>
            <a:ext cx="701687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 (KDE Plot of Job Openings):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openings is right-skewed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most companies having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number of open positions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companies show very high job counts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creating a long tail on the right.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density peaks at lower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the majority of firms have limited hiring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job opportunities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concentrated among a small number of large companies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Companies like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Accenture,</a:t>
            </a:r>
            <a:r>
              <a:rPr lang="en-IN" dirty="0"/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Bajaj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Finance,Wipro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..having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range of job openings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aggressive hiring and large workforce demand compared to others.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616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A26924-7050-A54D-320B-CD84D3186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16" y="2054355"/>
            <a:ext cx="4740179" cy="31272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76331" y="1228436"/>
            <a:ext cx="514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 on Top 10 Company Sectors: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809673" y="905102"/>
            <a:ext cx="593898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10 sectors dominate the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most companies belong to a few major industries.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Sectors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Services, Consulting, and Technology-related fields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 most common.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concentration of companies in tech and service sectors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others.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Companies like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Tekwissen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Kogta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India Limited etc..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companies belong to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most common sectors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dataset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94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3F9E01-B9EA-6A45-A0D1-0D6F86CCE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92" y="1546190"/>
            <a:ext cx="3991811" cy="35892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49382" y="646545"/>
            <a:ext cx="490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plot  for Top 10 Cities by Company Count: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153891" y="577128"/>
            <a:ext cx="606829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few major cities have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concentration of companies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Metro cities dominate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better job and business opportunities in urban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that companies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geographically concentrated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evenly distributed across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Companies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Marpu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Foundation, Indian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Army,etc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companies are located in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metro cities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concentration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680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18B3A63-05F3-3B80-4F84-784A6F23E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254FA16-23A8-B3CF-D2FB-3E32EBD092B0}"/>
              </a:ext>
            </a:extLst>
          </p:cNvPr>
          <p:cNvSpPr/>
          <p:nvPr/>
        </p:nvSpPr>
        <p:spPr>
          <a:xfrm>
            <a:off x="515938" y="366554"/>
            <a:ext cx="766345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IN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2.Bivariate Analysis</a:t>
            </a: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Understanding Employee Satisfaction</a:t>
            </a:r>
          </a:p>
          <a:p>
            <a:pPr>
              <a:lnSpc>
                <a:spcPts val="31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 Plot: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3E4639C-1521-1938-BD7D-40EE903D27FC}"/>
              </a:ext>
            </a:extLst>
          </p:cNvPr>
          <p:cNvSpPr/>
          <p:nvPr/>
        </p:nvSpPr>
        <p:spPr>
          <a:xfrm>
            <a:off x="515938" y="3586956"/>
            <a:ext cx="647259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endParaRPr lang="en-US" sz="12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7C14C14-7EEE-48C2-5C2E-E6648CCA80A4}"/>
              </a:ext>
            </a:extLst>
          </p:cNvPr>
          <p:cNvSpPr/>
          <p:nvPr/>
        </p:nvSpPr>
        <p:spPr>
          <a:xfrm>
            <a:off x="7307382" y="5544701"/>
            <a:ext cx="4609315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33D660-52C0-CE1A-CC4E-4EA724F7C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2137066"/>
            <a:ext cx="4713659" cy="4204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AutoShape 2" descr="blob:https://web.whatsapp.com/34d5f59d-6214-4383-aecd-7b73c3d552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547361" y="1327623"/>
            <a:ext cx="6369336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strong correlation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number of reviews and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companies cluster around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ratings (3–4)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with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reviews are more reliable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those with few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like TCS,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Accenture etc.. Having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reviews are more reliable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those with few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193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9CF35D1-56D9-CB79-22B6-A8764B95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loud 17">
            <a:extLst>
              <a:ext uri="{FF2B5EF4-FFF2-40B4-BE49-F238E27FC236}">
                <a16:creationId xmlns:a16="http://schemas.microsoft.com/office/drawing/2014/main" id="{22CEADF8-AB7A-3775-49F0-5C72663A16FF}"/>
              </a:ext>
            </a:extLst>
          </p:cNvPr>
          <p:cNvSpPr/>
          <p:nvPr/>
        </p:nvSpPr>
        <p:spPr>
          <a:xfrm>
            <a:off x="4789714" y="4126041"/>
            <a:ext cx="7383779" cy="2182962"/>
          </a:xfrm>
          <a:prstGeom prst="clou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97B5ED-92A0-C16C-B0A9-20498B9BAB25}"/>
              </a:ext>
            </a:extLst>
          </p:cNvPr>
          <p:cNvSpPr/>
          <p:nvPr/>
        </p:nvSpPr>
        <p:spPr>
          <a:xfrm>
            <a:off x="396835" y="548997"/>
            <a:ext cx="620196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Reviews vs. Jobs Insight: </a:t>
            </a:r>
            <a:r>
              <a:rPr lang="en-US" sz="3200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Engagement-Hiring Link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931CAB-5C8D-FC95-C7E0-CDC730A1B661}"/>
              </a:ext>
            </a:extLst>
          </p:cNvPr>
          <p:cNvSpPr/>
          <p:nvPr/>
        </p:nvSpPr>
        <p:spPr>
          <a:xfrm>
            <a:off x="396835" y="1005602"/>
            <a:ext cx="13836729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bivariate analysis reveals a compelling connection between the volume of company reviews and the number of job postings, indicating a dynamic interplay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between employee engagement and hiring activity.</a:t>
            </a:r>
            <a:endParaRPr lang="en-US"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93434D3-B382-0806-36CF-F8298F548EB1}"/>
              </a:ext>
            </a:extLst>
          </p:cNvPr>
          <p:cNvSpPr/>
          <p:nvPr/>
        </p:nvSpPr>
        <p:spPr>
          <a:xfrm flipH="1">
            <a:off x="5095535" y="1567899"/>
            <a:ext cx="45720" cy="1204193"/>
          </a:xfrm>
          <a:prstGeom prst="rect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DC81481-813F-121C-18AD-BFEE59AC2C47}"/>
              </a:ext>
            </a:extLst>
          </p:cNvPr>
          <p:cNvSpPr/>
          <p:nvPr/>
        </p:nvSpPr>
        <p:spPr>
          <a:xfrm>
            <a:off x="5249108" y="1881215"/>
            <a:ext cx="1693783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Moderate Positive Correlation</a:t>
            </a:r>
          </a:p>
          <a:p>
            <a:pPr marL="0" indent="0" algn="l">
              <a:lnSpc>
                <a:spcPts val="1250"/>
              </a:lnSpc>
              <a:buNone/>
            </a:pPr>
            <a:endParaRPr lang="en-US" sz="1800" dirty="0">
              <a:solidFill>
                <a:srgbClr val="272525"/>
              </a:solidFill>
              <a:latin typeface="Gelasio" pitchFamily="34" charset="0"/>
              <a:cs typeface="Gelasio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endParaRPr lang="en-US" sz="1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7149FF2-15C9-1AFF-C687-1C01D5E86025}"/>
              </a:ext>
            </a:extLst>
          </p:cNvPr>
          <p:cNvSpPr/>
          <p:nvPr/>
        </p:nvSpPr>
        <p:spPr>
          <a:xfrm>
            <a:off x="5249108" y="2223596"/>
            <a:ext cx="6325264" cy="334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There is a discernible moderate positive correlation between the number of company reviews and the volume of job openings.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E7B05B1-B319-20CB-B156-4EDDFEF58326}"/>
              </a:ext>
            </a:extLst>
          </p:cNvPr>
          <p:cNvSpPr/>
          <p:nvPr/>
        </p:nvSpPr>
        <p:spPr>
          <a:xfrm>
            <a:off x="5093733" y="2921848"/>
            <a:ext cx="45719" cy="1204193"/>
          </a:xfrm>
          <a:prstGeom prst="rect">
            <a:avLst/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C06F0BE-B3C5-5901-6542-F04E45C89604}"/>
              </a:ext>
            </a:extLst>
          </p:cNvPr>
          <p:cNvSpPr/>
          <p:nvPr/>
        </p:nvSpPr>
        <p:spPr>
          <a:xfrm>
            <a:off x="5249108" y="3069805"/>
            <a:ext cx="1908096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Engagement &amp; Hiring Connection</a:t>
            </a:r>
            <a:endParaRPr lang="en-US" sz="1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C14FFD2-926B-AB88-5160-AA47F2E3189A}"/>
              </a:ext>
            </a:extLst>
          </p:cNvPr>
          <p:cNvSpPr/>
          <p:nvPr/>
        </p:nvSpPr>
        <p:spPr>
          <a:xfrm>
            <a:off x="5249108" y="3446332"/>
            <a:ext cx="6325264" cy="23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suggests that companies with higher levels of employee engagement, often reflected in more reviews, tend to be more actively involved in hiring.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4A34DD3-BDF7-FDC6-E0DE-CA25C364C1F5}"/>
              </a:ext>
            </a:extLst>
          </p:cNvPr>
          <p:cNvSpPr/>
          <p:nvPr/>
        </p:nvSpPr>
        <p:spPr>
          <a:xfrm>
            <a:off x="5601414" y="4583298"/>
            <a:ext cx="6503499" cy="1503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correlation implies that a robust and active employee community might be a strong indicator of a growing company with frequent hiring needs</a:t>
            </a:r>
            <a:r>
              <a:rPr lang="en-US" sz="8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F5DC5E-6A42-8472-25DB-2F4A582E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34" y="1622954"/>
            <a:ext cx="4516876" cy="4059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9065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2B8A55C-20FE-746D-CADA-29267079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A9264250-E485-13D9-48E6-3AFE2761A6A9}"/>
              </a:ext>
            </a:extLst>
          </p:cNvPr>
          <p:cNvSpPr/>
          <p:nvPr/>
        </p:nvSpPr>
        <p:spPr>
          <a:xfrm>
            <a:off x="538798" y="266402"/>
            <a:ext cx="12153945" cy="74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Reviews, Jobs &amp; Salary Insight:</a:t>
            </a:r>
            <a:endParaRPr lang="en-US" sz="4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95EFF55-90D6-3574-31D7-0C61C2B4975D}"/>
              </a:ext>
            </a:extLst>
          </p:cNvPr>
          <p:cNvSpPr/>
          <p:nvPr/>
        </p:nvSpPr>
        <p:spPr>
          <a:xfrm>
            <a:off x="561658" y="1122856"/>
            <a:ext cx="1116225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Analyzing the distributions of reviews, job postings, and salaries reveals a highly imbalanced ecosystem, where a few entities hold significant influence.</a:t>
            </a:r>
            <a:endParaRPr lang="en-US" sz="1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F0706AE-B565-12C3-095A-B9B67F73AAC8}"/>
              </a:ext>
            </a:extLst>
          </p:cNvPr>
          <p:cNvSpPr/>
          <p:nvPr/>
        </p:nvSpPr>
        <p:spPr>
          <a:xfrm>
            <a:off x="538798" y="2645033"/>
            <a:ext cx="7556421" cy="1813679"/>
          </a:xfrm>
          <a:prstGeom prst="roundRect">
            <a:avLst>
              <a:gd name="adj" fmla="val 60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22D5867-8AFD-758C-FE3C-FC407091DDEF}"/>
              </a:ext>
            </a:extLst>
          </p:cNvPr>
          <p:cNvSpPr/>
          <p:nvPr/>
        </p:nvSpPr>
        <p:spPr>
          <a:xfrm>
            <a:off x="515938" y="2645033"/>
            <a:ext cx="91440" cy="1813679"/>
          </a:xfrm>
          <a:prstGeom prst="roundRect">
            <a:avLst>
              <a:gd name="adj" fmla="val 93767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A055931-4906-E855-EB49-971CA6EEB164}"/>
              </a:ext>
            </a:extLst>
          </p:cNvPr>
          <p:cNvSpPr/>
          <p:nvPr/>
        </p:nvSpPr>
        <p:spPr>
          <a:xfrm>
            <a:off x="834311" y="2871966"/>
            <a:ext cx="395239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Highly Right-Skewed Distributions</a:t>
            </a:r>
            <a:endParaRPr lang="en-US" sz="2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6A23B82-DB82-A21B-E7EE-1B38D28D29EA}"/>
              </a:ext>
            </a:extLst>
          </p:cNvPr>
          <p:cNvSpPr/>
          <p:nvPr/>
        </p:nvSpPr>
        <p:spPr>
          <a:xfrm>
            <a:off x="834311" y="3300948"/>
            <a:ext cx="703397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data for reviews, job postings, and salaries show a pronounced right-skew, meaning a large number of companies have low values, while a few have exceptionally high values.</a:t>
            </a:r>
            <a:endParaRPr lang="en-US" sz="1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FFF1B50-798E-A80D-064D-AEA5F519F1AA}"/>
              </a:ext>
            </a:extLst>
          </p:cNvPr>
          <p:cNvSpPr/>
          <p:nvPr/>
        </p:nvSpPr>
        <p:spPr>
          <a:xfrm>
            <a:off x="538798" y="4642425"/>
            <a:ext cx="7556421" cy="1813679"/>
          </a:xfrm>
          <a:prstGeom prst="roundRect">
            <a:avLst>
              <a:gd name="adj" fmla="val 60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616B428-E08A-E7DB-603D-0ED7ED192A8D}"/>
              </a:ext>
            </a:extLst>
          </p:cNvPr>
          <p:cNvSpPr/>
          <p:nvPr/>
        </p:nvSpPr>
        <p:spPr>
          <a:xfrm>
            <a:off x="515938" y="4642425"/>
            <a:ext cx="91440" cy="1813679"/>
          </a:xfrm>
          <a:prstGeom prst="roundRect">
            <a:avLst>
              <a:gd name="adj" fmla="val 93767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C0170E9-E05A-4C60-8C28-AC25C0731BFB}"/>
              </a:ext>
            </a:extLst>
          </p:cNvPr>
          <p:cNvSpPr/>
          <p:nvPr/>
        </p:nvSpPr>
        <p:spPr>
          <a:xfrm>
            <a:off x="834311" y="4869358"/>
            <a:ext cx="296453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Few Companies Dominate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82ED82C-7F0C-217F-D5D9-2DE262FA2A2B}"/>
              </a:ext>
            </a:extLst>
          </p:cNvPr>
          <p:cNvSpPr/>
          <p:nvPr/>
        </p:nvSpPr>
        <p:spPr>
          <a:xfrm>
            <a:off x="834311" y="5298340"/>
            <a:ext cx="703397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skew indicates that a select group of companies receive the vast majority of reviews, post the most jobs, and likely offer the highest salaries, driving market perception and talent attraction.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12341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519" y="310239"/>
            <a:ext cx="28664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Bar plot: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27" y="2088702"/>
            <a:ext cx="5600112" cy="27492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73699" y="2836622"/>
            <a:ext cx="5580668" cy="5411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080289" y="806269"/>
            <a:ext cx="566550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sector differences: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Some sectors consistently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average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better employee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sectors lead in work culture: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highest-rated sectors likely offer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work environment and benefits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Variation across sectors: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 all sectors perform equally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 experience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depends strongly on industry 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965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09" y="1662475"/>
            <a:ext cx="5022267" cy="36484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8618" y="286327"/>
            <a:ext cx="4627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cities by Company Presence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610376" y="1570181"/>
            <a:ext cx="65816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Metro cities dominate: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Cities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Bangalore, Mumbai, Delhi, Hyderabad, and Chennai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company presence.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 hubs lead: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Most top cities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and business hubs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attracting more companies.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concentration: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Company presence is heavily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concentrated in major metropolitan areas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fewer companies in smaller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23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9563" y="365657"/>
            <a:ext cx="1088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plot:</a:t>
            </a:r>
          </a:p>
        </p:txBody>
      </p:sp>
      <p:sp>
        <p:nvSpPr>
          <p:cNvPr id="3" name="Rectangle 2"/>
          <p:cNvSpPr/>
          <p:nvPr/>
        </p:nvSpPr>
        <p:spPr>
          <a:xfrm>
            <a:off x="339563" y="734989"/>
            <a:ext cx="3377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across Job Count Level: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50" y="1721330"/>
            <a:ext cx="4664951" cy="375488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596487" y="2845181"/>
            <a:ext cx="7796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118754" y="1860296"/>
            <a:ext cx="68721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companies like </a:t>
            </a:r>
            <a:r>
              <a:rPr lang="en-IN" dirty="0"/>
              <a:t>Accenture </a:t>
            </a:r>
            <a:r>
              <a:rPr lang="en-IN" dirty="0" err="1"/>
              <a:t>etc</a:t>
            </a:r>
            <a:r>
              <a:rPr lang="en-IN" dirty="0"/>
              <a:t> 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 ratings (around 3–4)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Companies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jobs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slightly higher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Companies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fewer jobs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ups and downs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ratings.</a:t>
            </a:r>
          </a:p>
        </p:txBody>
      </p:sp>
    </p:spTree>
    <p:extLst>
      <p:ext uri="{BB962C8B-B14F-4D97-AF65-F5344CB8AC3E}">
        <p14:creationId xmlns:p14="http://schemas.microsoft.com/office/powerpoint/2010/main" val="456061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8787" y="277912"/>
            <a:ext cx="60147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3.Multivariate Analysis:</a:t>
            </a:r>
          </a:p>
        </p:txBody>
      </p:sp>
      <p:sp>
        <p:nvSpPr>
          <p:cNvPr id="3" name="Rectangle 2"/>
          <p:cNvSpPr/>
          <p:nvPr/>
        </p:nvSpPr>
        <p:spPr>
          <a:xfrm>
            <a:off x="341960" y="1047353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 map: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8" y="1983585"/>
            <a:ext cx="5578323" cy="35817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82080" y="2168525"/>
            <a:ext cx="52222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and Salary counts move together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more reviews means more salary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and Jobs are related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companies with more reviews usually have more jobs.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are weakly related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ratings don’t change much with reviews, jobs, or salaries.</a:t>
            </a:r>
          </a:p>
        </p:txBody>
      </p:sp>
    </p:spTree>
    <p:extLst>
      <p:ext uri="{BB962C8B-B14F-4D97-AF65-F5344CB8AC3E}">
        <p14:creationId xmlns:p14="http://schemas.microsoft.com/office/powerpoint/2010/main" val="4211371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8A8F5D5-F0A5-FC6A-F32B-22DA7A43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CD9094F-EE52-AB4D-E3EE-BAE70E7897CC}"/>
              </a:ext>
            </a:extLst>
          </p:cNvPr>
          <p:cNvSpPr/>
          <p:nvPr/>
        </p:nvSpPr>
        <p:spPr>
          <a:xfrm>
            <a:off x="515938" y="392413"/>
            <a:ext cx="819269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Sector Distribution: </a:t>
            </a:r>
            <a:r>
              <a:rPr lang="en-US" sz="3600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Dominance of IT Services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D5853B-BA90-3471-26D2-FF25E8589959}"/>
              </a:ext>
            </a:extLst>
          </p:cNvPr>
          <p:cNvSpPr/>
          <p:nvPr/>
        </p:nvSpPr>
        <p:spPr>
          <a:xfrm>
            <a:off x="515938" y="99689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Examining the distribution of companies across various sectors reveals a significant concentration in IT Services, highlighting a potential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imbalance in the dataset and the market.</a:t>
            </a:r>
            <a:endParaRPr lang="en-US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CB73E8E-F696-402C-9E0D-3A7B598F9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1299193"/>
            <a:ext cx="8477726" cy="4569619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DE8C424B-9E10-2F18-798C-A6E527C2A229}"/>
              </a:ext>
            </a:extLst>
          </p:cNvPr>
          <p:cNvSpPr/>
          <p:nvPr/>
        </p:nvSpPr>
        <p:spPr>
          <a:xfrm>
            <a:off x="515938" y="5899291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2A2A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A782C7B-0D7C-18FD-6B6D-1E1837382699}"/>
              </a:ext>
            </a:extLst>
          </p:cNvPr>
          <p:cNvSpPr/>
          <p:nvPr/>
        </p:nvSpPr>
        <p:spPr>
          <a:xfrm>
            <a:off x="724297" y="5899291"/>
            <a:ext cx="698183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Services</a:t>
            </a:r>
            <a:endParaRPr lang="en-US" sz="11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6E91CFA-2700-FAF9-0DB2-1F2846F7886D}"/>
              </a:ext>
            </a:extLst>
          </p:cNvPr>
          <p:cNvSpPr/>
          <p:nvPr/>
        </p:nvSpPr>
        <p:spPr>
          <a:xfrm>
            <a:off x="1954213" y="5899291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4A4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63ABF43-3CC1-549D-3585-24BAB0CAF02C}"/>
              </a:ext>
            </a:extLst>
          </p:cNvPr>
          <p:cNvSpPr/>
          <p:nvPr/>
        </p:nvSpPr>
        <p:spPr>
          <a:xfrm>
            <a:off x="2162572" y="5899291"/>
            <a:ext cx="698063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Consulting</a:t>
            </a:r>
            <a:endParaRPr lang="en-US" sz="11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556BD11-9F7D-DC1A-61A6-1F779BB500CD}"/>
              </a:ext>
            </a:extLst>
          </p:cNvPr>
          <p:cNvSpPr/>
          <p:nvPr/>
        </p:nvSpPr>
        <p:spPr>
          <a:xfrm>
            <a:off x="3392607" y="5899291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6B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05C32F1-2812-D8D5-52B3-1302E45132DB}"/>
              </a:ext>
            </a:extLst>
          </p:cNvPr>
          <p:cNvSpPr/>
          <p:nvPr/>
        </p:nvSpPr>
        <p:spPr>
          <a:xfrm>
            <a:off x="3600966" y="5899291"/>
            <a:ext cx="505539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Finance</a:t>
            </a:r>
            <a:endParaRPr lang="en-US" sz="11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4723AEE-FA8A-985A-20C3-A182956F1CCD}"/>
              </a:ext>
            </a:extLst>
          </p:cNvPr>
          <p:cNvSpPr/>
          <p:nvPr/>
        </p:nvSpPr>
        <p:spPr>
          <a:xfrm>
            <a:off x="4831001" y="5899291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8C8C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57BBCA4-8A66-E203-C535-208C76F39302}"/>
              </a:ext>
            </a:extLst>
          </p:cNvPr>
          <p:cNvSpPr/>
          <p:nvPr/>
        </p:nvSpPr>
        <p:spPr>
          <a:xfrm>
            <a:off x="5039360" y="5899291"/>
            <a:ext cx="717709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Healthcare</a:t>
            </a:r>
            <a:endParaRPr lang="en-US" sz="11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77C535D-02A3-0E09-CFC7-1F5DCB562A17}"/>
              </a:ext>
            </a:extLst>
          </p:cNvPr>
          <p:cNvSpPr/>
          <p:nvPr/>
        </p:nvSpPr>
        <p:spPr>
          <a:xfrm>
            <a:off x="6269276" y="5899291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A7A79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4B9E587-029C-4FB3-1920-32688C2D2A48}"/>
              </a:ext>
            </a:extLst>
          </p:cNvPr>
          <p:cNvSpPr/>
          <p:nvPr/>
        </p:nvSpPr>
        <p:spPr>
          <a:xfrm>
            <a:off x="6477635" y="5899291"/>
            <a:ext cx="958096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Manufacturing</a:t>
            </a:r>
            <a:endParaRPr lang="en-US" sz="11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66130B5-313D-049F-1E5A-AAB3F1B1281C}"/>
              </a:ext>
            </a:extLst>
          </p:cNvPr>
          <p:cNvSpPr/>
          <p:nvPr/>
        </p:nvSpPr>
        <p:spPr>
          <a:xfrm>
            <a:off x="7707670" y="5899291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C3C3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9F0C5A1-3D84-3F8B-6D57-E39A2C343A7E}"/>
              </a:ext>
            </a:extLst>
          </p:cNvPr>
          <p:cNvSpPr/>
          <p:nvPr/>
        </p:nvSpPr>
        <p:spPr>
          <a:xfrm>
            <a:off x="7916029" y="5899291"/>
            <a:ext cx="454819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Others</a:t>
            </a:r>
            <a:endParaRPr lang="en-US" sz="11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AFC9AB0-62D3-B375-C99E-782E237B9115}"/>
              </a:ext>
            </a:extLst>
          </p:cNvPr>
          <p:cNvSpPr/>
          <p:nvPr/>
        </p:nvSpPr>
        <p:spPr>
          <a:xfrm>
            <a:off x="538379" y="6271039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</a:t>
            </a:r>
            <a:r>
              <a:rPr lang="en-US" sz="1200" b="1" dirty="0">
                <a:solidFill>
                  <a:schemeClr val="accent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Services sector </a:t>
            </a:r>
            <a:r>
              <a:rPr lang="en-US" sz="12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significantly outweighs others in terms of company representation, suggesting a need to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consider this bias in further analysis.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98282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A160B2D-713F-4471-E442-58A4919B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922184C-8DFE-D733-7B9D-2C5E04CCD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078" y="849580"/>
            <a:ext cx="3599571" cy="53994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1DE50F5-E902-1273-403E-BC771A843D57}"/>
              </a:ext>
            </a:extLst>
          </p:cNvPr>
          <p:cNvSpPr/>
          <p:nvPr/>
        </p:nvSpPr>
        <p:spPr>
          <a:xfrm>
            <a:off x="515938" y="295344"/>
            <a:ext cx="10772548" cy="1108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City Distribution: </a:t>
            </a:r>
            <a:r>
              <a:rPr lang="en-US" sz="3600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Urban Concentration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8B878A0-4343-7C09-8AE7-2586790648F0}"/>
              </a:ext>
            </a:extLst>
          </p:cNvPr>
          <p:cNvSpPr/>
          <p:nvPr/>
        </p:nvSpPr>
        <p:spPr>
          <a:xfrm>
            <a:off x="520469" y="1121697"/>
            <a:ext cx="7592139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dataset clearly illustrates a strong concentration of companies in major metropolitan areas, particularly key tech and business hubs.</a:t>
            </a:r>
            <a:endParaRPr lang="en-US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2203723-BA0A-2D1E-2357-2E44ECA3B3DE}"/>
              </a:ext>
            </a:extLst>
          </p:cNvPr>
          <p:cNvSpPr/>
          <p:nvPr/>
        </p:nvSpPr>
        <p:spPr>
          <a:xfrm>
            <a:off x="515938" y="1884132"/>
            <a:ext cx="709374" cy="1227534"/>
          </a:xfrm>
          <a:prstGeom prst="roundRect">
            <a:avLst>
              <a:gd name="adj" fmla="val 36002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7283D42-3AF5-C966-D775-E1D5B6C16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633" y="2364788"/>
            <a:ext cx="265986" cy="265986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DA4E518-8E07-A5E2-EA04-BA7D98339C07}"/>
              </a:ext>
            </a:extLst>
          </p:cNvPr>
          <p:cNvSpPr/>
          <p:nvPr/>
        </p:nvSpPr>
        <p:spPr>
          <a:xfrm>
            <a:off x="1367116" y="2061416"/>
            <a:ext cx="2216944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Bangalore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87310A1-8328-8546-1E4D-4AE15B06DAA1}"/>
              </a:ext>
            </a:extLst>
          </p:cNvPr>
          <p:cNvSpPr/>
          <p:nvPr/>
        </p:nvSpPr>
        <p:spPr>
          <a:xfrm>
            <a:off x="1367116" y="2423604"/>
            <a:ext cx="6740962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Often referred to as the "Silicon Valley of India," Bangalore stands out as a primary hub for tech companies.</a:t>
            </a:r>
            <a:endParaRPr lang="en-US" sz="13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10D743D-9BF8-9ECB-7ECB-95A2F0112389}"/>
              </a:ext>
            </a:extLst>
          </p:cNvPr>
          <p:cNvSpPr/>
          <p:nvPr/>
        </p:nvSpPr>
        <p:spPr>
          <a:xfrm>
            <a:off x="515938" y="3253470"/>
            <a:ext cx="709374" cy="1227534"/>
          </a:xfrm>
          <a:prstGeom prst="roundRect">
            <a:avLst>
              <a:gd name="adj" fmla="val 36002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50B3F01C-1DD5-CC3E-42B3-EC73A3EC65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7633" y="3734125"/>
            <a:ext cx="265986" cy="265986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DD47F697-B4C7-0980-8392-EA9A44F976C3}"/>
              </a:ext>
            </a:extLst>
          </p:cNvPr>
          <p:cNvSpPr/>
          <p:nvPr/>
        </p:nvSpPr>
        <p:spPr>
          <a:xfrm>
            <a:off x="1367116" y="3430754"/>
            <a:ext cx="2216944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Mumbai</a:t>
            </a:r>
            <a:endParaRPr lang="en-US" sz="17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D100A57-CC33-7ADE-FEA1-D082C6AC685E}"/>
              </a:ext>
            </a:extLst>
          </p:cNvPr>
          <p:cNvSpPr/>
          <p:nvPr/>
        </p:nvSpPr>
        <p:spPr>
          <a:xfrm>
            <a:off x="1367116" y="3792942"/>
            <a:ext cx="6740962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India's financial capital, Mumbai, also shows a strong presence, especially for finance and diverse business services.</a:t>
            </a:r>
            <a:endParaRPr lang="en-US" sz="135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8BDD89DF-BE69-CBB4-C4A4-5D754718B8FA}"/>
              </a:ext>
            </a:extLst>
          </p:cNvPr>
          <p:cNvSpPr/>
          <p:nvPr/>
        </p:nvSpPr>
        <p:spPr>
          <a:xfrm>
            <a:off x="515938" y="4622808"/>
            <a:ext cx="709374" cy="1227534"/>
          </a:xfrm>
          <a:prstGeom prst="roundRect">
            <a:avLst>
              <a:gd name="adj" fmla="val 36002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98FBE7D3-4F7B-D50A-9718-A7B492A896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7633" y="5103463"/>
            <a:ext cx="265986" cy="265986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79283595-CC8E-88ED-CE07-E49BDEEDCEE6}"/>
              </a:ext>
            </a:extLst>
          </p:cNvPr>
          <p:cNvSpPr/>
          <p:nvPr/>
        </p:nvSpPr>
        <p:spPr>
          <a:xfrm>
            <a:off x="1367116" y="4800092"/>
            <a:ext cx="2216944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Pune</a:t>
            </a:r>
            <a:endParaRPr lang="en-US" sz="17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44E27BF6-6ADB-C96F-0B0E-FB64C1ED4B14}"/>
              </a:ext>
            </a:extLst>
          </p:cNvPr>
          <p:cNvSpPr/>
          <p:nvPr/>
        </p:nvSpPr>
        <p:spPr>
          <a:xfrm>
            <a:off x="1367116" y="5162280"/>
            <a:ext cx="6740962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Emerging as another significant IT and manufacturing center, Pune rounds out the top three cities in our dataset.</a:t>
            </a:r>
            <a:endParaRPr lang="en-US" sz="13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900DF45-07BD-0518-2932-A738002FD585}"/>
              </a:ext>
            </a:extLst>
          </p:cNvPr>
          <p:cNvSpPr/>
          <p:nvPr/>
        </p:nvSpPr>
        <p:spPr>
          <a:xfrm>
            <a:off x="520468" y="6091325"/>
            <a:ext cx="7592139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dominance of </a:t>
            </a:r>
            <a:r>
              <a:rPr lang="en-US" dirty="0">
                <a:solidFill>
                  <a:schemeClr val="accent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metro cities </a:t>
            </a: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the dataset is evident, with Bangalore, Mumbai, and Pune leading the concentration of companies.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05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85BF8AA-9A5F-45D3-6DFF-6346EA0E2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956" y="80890"/>
            <a:ext cx="3390044" cy="508506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81CE087-1BF0-249B-4E56-A8433D725BA4}"/>
              </a:ext>
            </a:extLst>
          </p:cNvPr>
          <p:cNvSpPr/>
          <p:nvPr/>
        </p:nvSpPr>
        <p:spPr>
          <a:xfrm>
            <a:off x="515938" y="216383"/>
            <a:ext cx="72035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Higher Feedback Companies :</a:t>
            </a:r>
            <a:endParaRPr lang="en-US" sz="4450" b="1" dirty="0">
              <a:solidFill>
                <a:schemeClr val="accent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DFEA42F-999D-CB0B-F7DF-4F7524D95E77}"/>
              </a:ext>
            </a:extLst>
          </p:cNvPr>
          <p:cNvSpPr/>
          <p:nvPr/>
        </p:nvSpPr>
        <p:spPr>
          <a:xfrm>
            <a:off x="577480" y="12272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Hire In Global and Tekwissen have the highest employee ratings (4.9), showing strong employee satisfaction.</a:t>
            </a:r>
            <a:endParaRPr lang="en-US" sz="1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6993125-4561-E989-492C-AADDFA9D2066}"/>
              </a:ext>
            </a:extLst>
          </p:cNvPr>
          <p:cNvSpPr/>
          <p:nvPr/>
        </p:nvSpPr>
        <p:spPr>
          <a:xfrm>
            <a:off x="577480" y="220819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TCS and Accenture have the highest Reviews, Salary records, Interview experiences, and Benefits, indicating a very large workforce and active employee participation.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F846A50-1426-F656-8395-B1331BAC7E44}"/>
              </a:ext>
            </a:extLst>
          </p:cNvPr>
          <p:cNvSpPr/>
          <p:nvPr/>
        </p:nvSpPr>
        <p:spPr>
          <a:xfrm>
            <a:off x="577480" y="355205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Accenture and Bajaj Finance have the highest Jobs_Count feedback, reflecting strong hiring activity.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919AD3C-BFFE-C286-0226-33D9150E4CD0}"/>
              </a:ext>
            </a:extLst>
          </p:cNvPr>
          <p:cNvSpPr/>
          <p:nvPr/>
        </p:nvSpPr>
        <p:spPr>
          <a:xfrm>
            <a:off x="577480" y="453301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Jio and HDFC Bank have the highest location spread, indicating wide geographical operations across India.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255551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00F3C-6C9C-38C6-9B32-075295FC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FDEE6B-17F4-4BF0-6162-0FD19FCB4545}"/>
              </a:ext>
            </a:extLst>
          </p:cNvPr>
          <p:cNvSpPr/>
          <p:nvPr/>
        </p:nvSpPr>
        <p:spPr>
          <a:xfrm>
            <a:off x="397951" y="294203"/>
            <a:ext cx="5592604" cy="56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Low Feedback Companies :</a:t>
            </a:r>
            <a:endParaRPr lang="en-US" sz="4400" b="1" dirty="0">
              <a:solidFill>
                <a:schemeClr val="accent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A4CD49-B6A3-DEB5-3A93-4AA8E88CA710}"/>
              </a:ext>
            </a:extLst>
          </p:cNvPr>
          <p:cNvSpPr/>
          <p:nvPr/>
        </p:nvSpPr>
        <p:spPr>
          <a:xfrm>
            <a:off x="515938" y="970955"/>
            <a:ext cx="109681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Stellar Migration and Mu Sigma have the lowest ratings, indicating very poor employee satisfaction.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94530C-F211-443A-241E-9496030F9CC2}"/>
              </a:ext>
            </a:extLst>
          </p:cNvPr>
          <p:cNvSpPr/>
          <p:nvPr/>
        </p:nvSpPr>
        <p:spPr>
          <a:xfrm>
            <a:off x="515938" y="1537335"/>
            <a:ext cx="11268075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Hire In Global and Bajaj Capital Insurance Broking Limited have the lowest Reviews_Count (1000), reflecting limited employee participation or smaller organizational reach.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42048F-9633-35F7-E755-204BDA5EA70C}"/>
              </a:ext>
            </a:extLst>
          </p:cNvPr>
          <p:cNvSpPr/>
          <p:nvPr/>
        </p:nvSpPr>
        <p:spPr>
          <a:xfrm>
            <a:off x="515938" y="2439829"/>
            <a:ext cx="1126807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Several companies show extremely low </a:t>
            </a:r>
            <a:r>
              <a:rPr lang="en-US" sz="1650" dirty="0" err="1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Salary_Count</a:t>
            </a:r>
            <a:r>
              <a:rPr lang="en-US" sz="16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, with values near 0–57, suggesting missing data or low salary engagement.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650" dirty="0">
              <a:solidFill>
                <a:srgbClr val="272525"/>
              </a:solidFill>
              <a:latin typeface="Times New Roman" panose="02020603050405020304" pitchFamily="18" charset="0"/>
              <a:ea typeface="Lato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650" dirty="0">
              <a:solidFill>
                <a:srgbClr val="272525"/>
              </a:solidFill>
              <a:latin typeface="Times New Roman" panose="02020603050405020304" pitchFamily="18" charset="0"/>
              <a:ea typeface="Lato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50558A-1A60-7D8B-B8C9-0A85B42007A0}"/>
              </a:ext>
            </a:extLst>
          </p:cNvPr>
          <p:cNvSpPr/>
          <p:nvPr/>
        </p:nvSpPr>
        <p:spPr>
          <a:xfrm>
            <a:off x="515938" y="3006209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Stellar Migration and Royal Migration Solutions have the lowest salary feedback counts.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6D39C0-0439-175E-26EB-2E9416D0DD9A}"/>
              </a:ext>
            </a:extLst>
          </p:cNvPr>
          <p:cNvSpPr/>
          <p:nvPr/>
        </p:nvSpPr>
        <p:spPr>
          <a:xfrm>
            <a:off x="515938" y="3572589"/>
            <a:ext cx="1295425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Interview activity is minimal in low-performing companies, with some having only 1–2 interview records, indicating weak </a:t>
            </a:r>
          </a:p>
          <a:p>
            <a:pPr algn="l">
              <a:lnSpc>
                <a:spcPct val="150000"/>
              </a:lnSpc>
            </a:pPr>
            <a:r>
              <a:rPr lang="en-US" sz="16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     hiring presence.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B5728A-FFE1-4C10-63C0-85D5758F0375}"/>
              </a:ext>
            </a:extLst>
          </p:cNvPr>
          <p:cNvSpPr/>
          <p:nvPr/>
        </p:nvSpPr>
        <p:spPr>
          <a:xfrm>
            <a:off x="515938" y="4398734"/>
            <a:ext cx="1018155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Royal Migration Solutions and Stellar Migration have the lowest interview feedback counts.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FF9A441-2552-8810-4932-949B630DFD3D}"/>
              </a:ext>
            </a:extLst>
          </p:cNvPr>
          <p:cNvSpPr/>
          <p:nvPr/>
        </p:nvSpPr>
        <p:spPr>
          <a:xfrm>
            <a:off x="515938" y="5014048"/>
            <a:ext cx="11268075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Many firms report 0 job openings, meaning no active recruitment compared to top companies (Hire In Global, HSBC Electronic Data Processing).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304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5BE4-0891-006E-3AAA-5135C8DD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7B6C3193-7041-09ED-07C3-51D86FABEEDD}"/>
              </a:ext>
            </a:extLst>
          </p:cNvPr>
          <p:cNvSpPr/>
          <p:nvPr/>
        </p:nvSpPr>
        <p:spPr>
          <a:xfrm>
            <a:off x="515938" y="1252154"/>
            <a:ext cx="1126807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Benefits offered are very limited, with most low companies having only 1 benefit entry, showing weaker employee welfare (Royal Migration Solutions, Bluestock™).</a:t>
            </a:r>
            <a:endParaRPr lang="en-US" sz="165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C01944D8-5DDD-736A-695C-CFA1197B4173}"/>
              </a:ext>
            </a:extLst>
          </p:cNvPr>
          <p:cNvSpPr/>
          <p:nvPr/>
        </p:nvSpPr>
        <p:spPr>
          <a:xfrm>
            <a:off x="515938" y="2302131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Tekwissen and Stellar Migration have low Other_Locations_Count, meaning limited geographical expansion.</a:t>
            </a:r>
            <a:endParaRPr lang="en-US" sz="165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89EEB52-B69A-53F6-9B51-25F55E2818AF}"/>
              </a:ext>
            </a:extLst>
          </p:cNvPr>
          <p:cNvSpPr/>
          <p:nvPr/>
        </p:nvSpPr>
        <p:spPr>
          <a:xfrm>
            <a:off x="397951" y="294203"/>
            <a:ext cx="5592604" cy="56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Low Feedback Companies :</a:t>
            </a:r>
            <a:endParaRPr lang="en-US" sz="4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704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66B78-A70D-C719-C434-FB9FFF12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E45007-BB25-B1D5-37A8-BCD3852C103A}"/>
              </a:ext>
            </a:extLst>
          </p:cNvPr>
          <p:cNvSpPr/>
          <p:nvPr/>
        </p:nvSpPr>
        <p:spPr>
          <a:xfrm>
            <a:off x="485458" y="298869"/>
            <a:ext cx="6311979" cy="589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Overall Trends and Patterns :</a:t>
            </a:r>
            <a:endParaRPr lang="en-US" sz="4400" b="1" dirty="0">
              <a:solidFill>
                <a:schemeClr val="accent1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E43F8D-61E5-A9CD-E46F-1EA664A34493}"/>
              </a:ext>
            </a:extLst>
          </p:cNvPr>
          <p:cNvSpPr/>
          <p:nvPr/>
        </p:nvSpPr>
        <p:spPr>
          <a:xfrm>
            <a:off x="154786" y="1145999"/>
            <a:ext cx="3829920" cy="1931908"/>
          </a:xfrm>
          <a:prstGeom prst="roundRect">
            <a:avLst>
              <a:gd name="adj" fmla="val 757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BD20AC-F5E2-BA44-3198-8AB745CB4D87}"/>
              </a:ext>
            </a:extLst>
          </p:cNvPr>
          <p:cNvSpPr/>
          <p:nvPr/>
        </p:nvSpPr>
        <p:spPr>
          <a:xfrm>
            <a:off x="124306" y="1145999"/>
            <a:ext cx="121920" cy="193190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D5FF08-8009-E1F3-18EE-0ADDD8665C7A}"/>
              </a:ext>
            </a:extLst>
          </p:cNvPr>
          <p:cNvSpPr/>
          <p:nvPr/>
        </p:nvSpPr>
        <p:spPr>
          <a:xfrm>
            <a:off x="503520" y="1403293"/>
            <a:ext cx="359033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Employee ratings are generally stable and not strongly influenced by company size.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06597C-FBAD-945F-EFBD-F9BDA95FFF3D}"/>
              </a:ext>
            </a:extLst>
          </p:cNvPr>
          <p:cNvSpPr/>
          <p:nvPr/>
        </p:nvSpPr>
        <p:spPr>
          <a:xfrm>
            <a:off x="4242000" y="1155782"/>
            <a:ext cx="3708000" cy="1931908"/>
          </a:xfrm>
          <a:prstGeom prst="roundRect">
            <a:avLst>
              <a:gd name="adj" fmla="val 757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779FFE-E37B-D6F1-97D2-63ECF9534871}"/>
              </a:ext>
            </a:extLst>
          </p:cNvPr>
          <p:cNvSpPr/>
          <p:nvPr/>
        </p:nvSpPr>
        <p:spPr>
          <a:xfrm>
            <a:off x="4211520" y="1155782"/>
            <a:ext cx="121920" cy="193190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DC367A-6049-BC09-830B-02C732236AF2}"/>
              </a:ext>
            </a:extLst>
          </p:cNvPr>
          <p:cNvSpPr/>
          <p:nvPr/>
        </p:nvSpPr>
        <p:spPr>
          <a:xfrm>
            <a:off x="4590734" y="1413076"/>
            <a:ext cx="35903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Metro cities dominate company presence and hiring activity.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1394FBF-9F86-91F5-51B9-03B21D6B5173}"/>
              </a:ext>
            </a:extLst>
          </p:cNvPr>
          <p:cNvSpPr/>
          <p:nvPr/>
        </p:nvSpPr>
        <p:spPr>
          <a:xfrm>
            <a:off x="8211544" y="1155782"/>
            <a:ext cx="3844463" cy="1931908"/>
          </a:xfrm>
          <a:prstGeom prst="roundRect">
            <a:avLst>
              <a:gd name="adj" fmla="val 757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7EE63B2-A967-5DF6-35CE-A8FE625081E1}"/>
              </a:ext>
            </a:extLst>
          </p:cNvPr>
          <p:cNvSpPr/>
          <p:nvPr/>
        </p:nvSpPr>
        <p:spPr>
          <a:xfrm>
            <a:off x="8181064" y="1155782"/>
            <a:ext cx="121920" cy="193190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28AB62A-BFA8-61C2-6E34-44BFA08B6707}"/>
              </a:ext>
            </a:extLst>
          </p:cNvPr>
          <p:cNvSpPr/>
          <p:nvPr/>
        </p:nvSpPr>
        <p:spPr>
          <a:xfrm>
            <a:off x="8560279" y="1413076"/>
            <a:ext cx="35903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Reviews and job openings show a moderate positive correlation.</a:t>
            </a:r>
            <a:endParaRPr lang="en-US" sz="2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EF5DD4D-42AC-D266-5AA3-F4B9F6195016}"/>
              </a:ext>
            </a:extLst>
          </p:cNvPr>
          <p:cNvSpPr/>
          <p:nvPr/>
        </p:nvSpPr>
        <p:spPr>
          <a:xfrm>
            <a:off x="1469667" y="3429000"/>
            <a:ext cx="4196358" cy="1577578"/>
          </a:xfrm>
          <a:prstGeom prst="roundRect">
            <a:avLst>
              <a:gd name="adj" fmla="val 927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ACEF19E-AB58-174D-7645-320E4B4A5635}"/>
              </a:ext>
            </a:extLst>
          </p:cNvPr>
          <p:cNvSpPr/>
          <p:nvPr/>
        </p:nvSpPr>
        <p:spPr>
          <a:xfrm>
            <a:off x="1439187" y="3429000"/>
            <a:ext cx="121920" cy="157757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13E9160-F744-398F-4C19-F2980090A877}"/>
              </a:ext>
            </a:extLst>
          </p:cNvPr>
          <p:cNvSpPr/>
          <p:nvPr/>
        </p:nvSpPr>
        <p:spPr>
          <a:xfrm>
            <a:off x="1818401" y="3686294"/>
            <a:ext cx="35903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Specialized sectors tend to have higher employee satisfaction.</a:t>
            </a:r>
            <a:endParaRPr lang="en-US" sz="2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B721D1C-5775-A738-5344-D3468E312F89}"/>
              </a:ext>
            </a:extLst>
          </p:cNvPr>
          <p:cNvSpPr/>
          <p:nvPr/>
        </p:nvSpPr>
        <p:spPr>
          <a:xfrm>
            <a:off x="5892839" y="3429000"/>
            <a:ext cx="4196358" cy="1577578"/>
          </a:xfrm>
          <a:prstGeom prst="roundRect">
            <a:avLst>
              <a:gd name="adj" fmla="val 927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65F490E-FE0F-7D37-07A5-96246B81D711}"/>
              </a:ext>
            </a:extLst>
          </p:cNvPr>
          <p:cNvSpPr/>
          <p:nvPr/>
        </p:nvSpPr>
        <p:spPr>
          <a:xfrm>
            <a:off x="5862359" y="3429000"/>
            <a:ext cx="121920" cy="157757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1756E0-D19F-BA91-A7FE-68B9231C6A92}"/>
              </a:ext>
            </a:extLst>
          </p:cNvPr>
          <p:cNvSpPr/>
          <p:nvPr/>
        </p:nvSpPr>
        <p:spPr>
          <a:xfrm>
            <a:off x="6241573" y="3686294"/>
            <a:ext cx="35903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Company culture varies more by sector than by hiring volume.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97489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092877-7D7D-9B5B-98E2-B145AC8A0ADB}"/>
              </a:ext>
            </a:extLst>
          </p:cNvPr>
          <p:cNvSpPr/>
          <p:nvPr/>
        </p:nvSpPr>
        <p:spPr>
          <a:xfrm>
            <a:off x="515938" y="327546"/>
            <a:ext cx="6492240" cy="589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Performance Level Summary :</a:t>
            </a:r>
            <a:endParaRPr lang="en-US" sz="4400" b="1" dirty="0">
              <a:solidFill>
                <a:schemeClr val="accent1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BBA25F-36F7-AE8D-534B-6833057D8870}"/>
              </a:ext>
            </a:extLst>
          </p:cNvPr>
          <p:cNvSpPr/>
          <p:nvPr/>
        </p:nvSpPr>
        <p:spPr>
          <a:xfrm>
            <a:off x="242413" y="1179339"/>
            <a:ext cx="11541600" cy="1115763"/>
          </a:xfrm>
          <a:prstGeom prst="roundRect">
            <a:avLst>
              <a:gd name="adj" fmla="val 3027"/>
            </a:avLst>
          </a:prstGeom>
          <a:solidFill>
            <a:srgbClr val="E8E8E3"/>
          </a:solidFill>
          <a:ln w="7620">
            <a:solidFill>
              <a:schemeClr val="tx1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880FFDA-DA68-E96F-B135-56D37008105F}"/>
              </a:ext>
            </a:extLst>
          </p:cNvPr>
          <p:cNvSpPr/>
          <p:nvPr/>
        </p:nvSpPr>
        <p:spPr>
          <a:xfrm>
            <a:off x="476847" y="129114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1B6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685A52A-8FA3-8D4D-9EC4-FD8134B90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013" y="1478188"/>
            <a:ext cx="306110" cy="30611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4EFA321-A886-1C83-5B47-8915F86C531B}"/>
              </a:ext>
            </a:extLst>
          </p:cNvPr>
          <p:cNvSpPr/>
          <p:nvPr/>
        </p:nvSpPr>
        <p:spPr>
          <a:xfrm>
            <a:off x="1295986" y="1333684"/>
            <a:ext cx="10488027" cy="72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13 companies fall under the High-level category across all feedback metrics, indicating strong overall performance and employee engagement.</a:t>
            </a:r>
            <a:endParaRPr lang="en-US" sz="2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6072C1C-92C1-627A-24AF-6AA22662D9C1}"/>
              </a:ext>
            </a:extLst>
          </p:cNvPr>
          <p:cNvSpPr/>
          <p:nvPr/>
        </p:nvSpPr>
        <p:spPr>
          <a:xfrm>
            <a:off x="242413" y="2736949"/>
            <a:ext cx="11541600" cy="1115762"/>
          </a:xfrm>
          <a:prstGeom prst="roundRect">
            <a:avLst>
              <a:gd name="adj" fmla="val 3027"/>
            </a:avLst>
          </a:prstGeom>
          <a:solidFill>
            <a:srgbClr val="E8E8E3"/>
          </a:solidFill>
          <a:ln w="762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1B0AD68-3255-6394-5B55-41D68146B5CE}"/>
              </a:ext>
            </a:extLst>
          </p:cNvPr>
          <p:cNvSpPr/>
          <p:nvPr/>
        </p:nvSpPr>
        <p:spPr>
          <a:xfrm>
            <a:off x="476847" y="278433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AB6AA"/>
          </a:solidFill>
          <a:ln/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B629C9B8-B7D2-C9DA-1C21-657AAEE5C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013" y="2971383"/>
            <a:ext cx="306110" cy="30611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70B273DE-AFE4-7655-F6A3-BBF2AC864E0F}"/>
              </a:ext>
            </a:extLst>
          </p:cNvPr>
          <p:cNvSpPr/>
          <p:nvPr/>
        </p:nvSpPr>
        <p:spPr>
          <a:xfrm>
            <a:off x="1295986" y="2833875"/>
            <a:ext cx="10419167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 companies fall under the Medium-level category across all feedback metrics, representing average and stable performance.</a:t>
            </a:r>
            <a:endParaRPr lang="en-US" sz="22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2DFBC948-C6BF-13A0-DB30-6B1BCA932795}"/>
              </a:ext>
            </a:extLst>
          </p:cNvPr>
          <p:cNvSpPr/>
          <p:nvPr/>
        </p:nvSpPr>
        <p:spPr>
          <a:xfrm>
            <a:off x="242413" y="4185948"/>
            <a:ext cx="11541600" cy="1115762"/>
          </a:xfrm>
          <a:prstGeom prst="roundRect">
            <a:avLst>
              <a:gd name="adj" fmla="val 3027"/>
            </a:avLst>
          </a:prstGeom>
          <a:solidFill>
            <a:srgbClr val="E8E8E3"/>
          </a:solidFill>
          <a:ln w="7620">
            <a:solidFill>
              <a:schemeClr val="tx1"/>
            </a:solidFill>
            <a:prstDash val="solid"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6AA13F9-CFE6-BC27-1BBF-409C932B0625}"/>
              </a:ext>
            </a:extLst>
          </p:cNvPr>
          <p:cNvSpPr/>
          <p:nvPr/>
        </p:nvSpPr>
        <p:spPr>
          <a:xfrm>
            <a:off x="559634" y="4290753"/>
            <a:ext cx="680442" cy="511755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196CCB28-46BD-EFB0-AECC-4719768909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800" y="4477800"/>
            <a:ext cx="306110" cy="230223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2B757EDE-A71F-4982-F96C-0184933ACC23}"/>
              </a:ext>
            </a:extLst>
          </p:cNvPr>
          <p:cNvSpPr/>
          <p:nvPr/>
        </p:nvSpPr>
        <p:spPr>
          <a:xfrm>
            <a:off x="1295986" y="4290753"/>
            <a:ext cx="10488027" cy="133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15 companies fall under the Low-level category across all feedback metrics, reflecting weaker employee sentiment and limited engagement.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59009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865D9-FFA7-FE20-A0DC-9853A08D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180661D-6E8A-7F75-E8C6-BD7FDF6DF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36269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50384BF-6C9E-7AA2-A89D-A1C21E8EC571}"/>
              </a:ext>
            </a:extLst>
          </p:cNvPr>
          <p:cNvSpPr/>
          <p:nvPr/>
        </p:nvSpPr>
        <p:spPr>
          <a:xfrm>
            <a:off x="411826" y="2736821"/>
            <a:ext cx="4536519" cy="589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Final Insight :</a:t>
            </a:r>
            <a:endParaRPr lang="en-US" sz="4400" b="1" dirty="0">
              <a:solidFill>
                <a:schemeClr val="accent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84447DB-A3F4-419A-9D15-C324590DF66B}"/>
              </a:ext>
            </a:extLst>
          </p:cNvPr>
          <p:cNvSpPr/>
          <p:nvPr/>
        </p:nvSpPr>
        <p:spPr>
          <a:xfrm>
            <a:off x="515938" y="3700781"/>
            <a:ext cx="112680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analysis helps job seekers identify high-satisfaction sectors and cities, and enables companies to benchmark employee sentiment against peers.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016544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2329</TotalTime>
  <Words>2019</Words>
  <Application>Microsoft Office PowerPoint</Application>
  <PresentationFormat>Widescreen</PresentationFormat>
  <Paragraphs>266</Paragraphs>
  <Slides>31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Libre Baskerville</vt:lpstr>
      <vt:lpstr>Gelasio</vt:lpstr>
      <vt:lpstr>Lato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santhosh kumar</cp:lastModifiedBy>
  <cp:revision>44</cp:revision>
  <dcterms:created xsi:type="dcterms:W3CDTF">2021-02-16T05:19:01Z</dcterms:created>
  <dcterms:modified xsi:type="dcterms:W3CDTF">2026-02-03T12:14:54Z</dcterms:modified>
</cp:coreProperties>
</file>